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9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BB7DC-688F-4B18-8F7E-20F4BAAD676B}" v="8" dt="2026-04-15T23:28:13.524"/>
    <p1510:client id="{191124F8-E6D9-464B-B9F7-C170B410E4E2}" v="61" dt="2026-04-15T23:19:03.772"/>
    <p1510:client id="{1B5A9751-0777-427F-A5DE-6BBB45269BE3}" v="372" dt="2026-04-15T22:20:16.689"/>
    <p1510:client id="{49D85369-7904-4B67-8793-F583E315ACCC}" v="6" dt="2026-04-16T08:22:15.272"/>
    <p1510:client id="{635B2C9F-9B12-4BDD-B343-40B95B56D0F1}" v="29" dt="2026-04-15T22:23:21.226"/>
    <p1510:client id="{69794061-DC81-4FE9-977D-C9B7AF139893}" v="235" dt="2026-04-15T16:23:21.532"/>
    <p1510:client id="{6DA7CFE0-6481-4CD7-A3BD-7AE4E66DAB19}" v="127" dt="2026-04-15T23:32:12.185"/>
    <p1510:client id="{7A6DFC1F-FFE8-447E-AA02-EBE882E0F036}" v="214" dt="2026-04-15T23:52:31.064"/>
    <p1510:client id="{CCEAAEDA-6FED-4A41-B06F-92FB2E85A5B7}" v="101" dt="2026-04-16T09:39:50.098"/>
    <p1510:client id="{E040B119-BC46-4AF4-922A-956AE607E183}" v="180" dt="2026-04-15T16:09:46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AE10-FC6D-4DF1-BCC5-F7D0FB4F448C}" type="datetimeFigureOut"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B3B99-61D1-4A84-8DBB-67E2AD132F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3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EF94-8D3F-5EE9-746C-397DE6956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05233-5265-C219-DA67-255691639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87173-8DCF-BF20-6F30-F55443B8E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98B46-4A3F-B783-DD9D-8B1A5BBDD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62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229F-E555-667F-5C5E-BB04189C0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14A81-D317-0CB3-3995-2EB5B4218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F7D3B-8DDE-A1EC-B689-6A839D6C6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4629-E997-71E6-D9A4-EF53379A3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4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5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0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8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6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5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2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1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2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64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04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0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0A95B81-65D0-2CE9-1AC2-E563031C5C8C}"/>
              </a:ext>
            </a:extLst>
          </p:cNvPr>
          <p:cNvGrpSpPr/>
          <p:nvPr/>
        </p:nvGrpSpPr>
        <p:grpSpPr>
          <a:xfrm>
            <a:off x="2026920" y="642783"/>
            <a:ext cx="8138160" cy="4215384"/>
            <a:chOff x="2381339" y="1059357"/>
            <a:chExt cx="8138160" cy="4215384"/>
          </a:xfrm>
        </p:grpSpPr>
        <p:sp>
          <p:nvSpPr>
            <p:cNvPr id="3" name="Text 1"/>
            <p:cNvSpPr/>
            <p:nvPr/>
          </p:nvSpPr>
          <p:spPr>
            <a:xfrm>
              <a:off x="2381339" y="1059357"/>
              <a:ext cx="813816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400" b="1" kern="0" spc="300" err="1">
                  <a:solidFill>
                    <a:srgbClr val="FFFFFF"/>
                  </a:solidFill>
                </a:rPr>
                <a:t>Metabalance</a:t>
              </a:r>
              <a:endParaRPr lang="en-US" sz="5400" err="1"/>
            </a:p>
          </p:txBody>
        </p:sp>
        <p:sp>
          <p:nvSpPr>
            <p:cNvPr id="4" name="Text 2"/>
            <p:cNvSpPr/>
            <p:nvPr/>
          </p:nvSpPr>
          <p:spPr>
            <a:xfrm>
              <a:off x="2381339" y="2019477"/>
              <a:ext cx="8138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i="1" err="1">
                  <a:solidFill>
                    <a:srgbClr val="FFD8A8"/>
                  </a:solidFill>
                </a:rPr>
                <a:t>Többplatformos</a:t>
              </a:r>
              <a:r>
                <a:rPr lang="en-US" sz="1700" i="1">
                  <a:solidFill>
                    <a:srgbClr val="FFD8A8"/>
                  </a:solidFill>
                </a:rPr>
                <a:t> </a:t>
              </a:r>
              <a:r>
                <a:rPr lang="en-US" sz="1700" i="1" err="1">
                  <a:solidFill>
                    <a:srgbClr val="FFD8A8"/>
                  </a:solidFill>
                </a:rPr>
                <a:t>egészség</a:t>
              </a:r>
              <a:r>
                <a:rPr lang="en-US" sz="1700" i="1">
                  <a:solidFill>
                    <a:srgbClr val="FFD8A8"/>
                  </a:solidFill>
                </a:rPr>
                <a:t>- </a:t>
              </a:r>
              <a:r>
                <a:rPr lang="en-US" sz="1700" i="1" err="1">
                  <a:solidFill>
                    <a:srgbClr val="FFD8A8"/>
                  </a:solidFill>
                </a:rPr>
                <a:t>és</a:t>
              </a:r>
              <a:r>
                <a:rPr lang="en-US" sz="1700" i="1">
                  <a:solidFill>
                    <a:srgbClr val="FFD8A8"/>
                  </a:solidFill>
                </a:rPr>
                <a:t> </a:t>
              </a:r>
              <a:r>
                <a:rPr lang="en-US" sz="1700" i="1" err="1">
                  <a:solidFill>
                    <a:srgbClr val="FFD8A8"/>
                  </a:solidFill>
                </a:rPr>
                <a:t>életmódkövető</a:t>
              </a:r>
              <a:r>
                <a:rPr lang="en-US" sz="1700" i="1">
                  <a:solidFill>
                    <a:srgbClr val="FFD8A8"/>
                  </a:solidFill>
                </a:rPr>
                <a:t> </a:t>
              </a:r>
              <a:r>
                <a:rPr lang="en-US" sz="1700" i="1" err="1">
                  <a:solidFill>
                    <a:srgbClr val="FFD8A8"/>
                  </a:solidFill>
                </a:rPr>
                <a:t>alkalmazás</a:t>
              </a:r>
              <a:endParaRPr lang="en-US" sz="1700" err="1"/>
            </a:p>
          </p:txBody>
        </p:sp>
        <p:sp>
          <p:nvSpPr>
            <p:cNvPr id="5" name="Shape 3"/>
            <p:cNvSpPr/>
            <p:nvPr/>
          </p:nvSpPr>
          <p:spPr>
            <a:xfrm>
              <a:off x="4164419" y="2613837"/>
              <a:ext cx="4572000" cy="41148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381339" y="2778429"/>
              <a:ext cx="8138160" cy="320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300" b="1" err="1">
                  <a:solidFill>
                    <a:srgbClr val="FFD8A8"/>
                  </a:solidFill>
                </a:rPr>
                <a:t>Csapattagok</a:t>
              </a:r>
              <a:r>
                <a:rPr lang="en-US" sz="1300" b="1">
                  <a:solidFill>
                    <a:srgbClr val="FFD8A8"/>
                  </a:solidFill>
                </a:rPr>
                <a:t>:</a:t>
              </a:r>
              <a:endParaRPr lang="en-US" sz="1300"/>
            </a:p>
          </p:txBody>
        </p:sp>
        <p:sp>
          <p:nvSpPr>
            <p:cNvPr id="7" name="Text 5"/>
            <p:cNvSpPr/>
            <p:nvPr/>
          </p:nvSpPr>
          <p:spPr>
            <a:xfrm>
              <a:off x="2381339" y="3116757"/>
              <a:ext cx="8138160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600" err="1">
                  <a:solidFill>
                    <a:srgbClr val="FFFFFF"/>
                  </a:solidFill>
                </a:rPr>
                <a:t>Buttyán</a:t>
              </a:r>
              <a:r>
                <a:rPr lang="en-US" sz="1600">
                  <a:solidFill>
                    <a:srgbClr val="FFFFFF"/>
                  </a:solidFill>
                </a:rPr>
                <a:t> Péter  –  Frontend</a:t>
              </a:r>
              <a:endParaRPr lang="en-US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2381339" y="3500805"/>
              <a:ext cx="8138160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</a:rPr>
                <a:t>Körtvélyesi Roland  –  Backend &amp; </a:t>
              </a:r>
              <a:r>
                <a:rPr lang="en-US" sz="1600" err="1">
                  <a:solidFill>
                    <a:srgbClr val="FFFFFF"/>
                  </a:solidFill>
                </a:rPr>
                <a:t>Adatbázis</a:t>
              </a:r>
              <a:endParaRPr lang="en-US" sz="1600" err="1"/>
            </a:p>
          </p:txBody>
        </p:sp>
        <p:sp>
          <p:nvSpPr>
            <p:cNvPr id="9" name="Text 7"/>
            <p:cNvSpPr/>
            <p:nvPr/>
          </p:nvSpPr>
          <p:spPr>
            <a:xfrm>
              <a:off x="2381339" y="3884853"/>
              <a:ext cx="8138160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</a:rPr>
                <a:t>Mészáros Nándor Farkas  –  </a:t>
              </a:r>
              <a:r>
                <a:rPr lang="en-US" sz="1600" err="1">
                  <a:solidFill>
                    <a:srgbClr val="FFFFFF"/>
                  </a:solidFill>
                </a:rPr>
                <a:t>Asztali</a:t>
              </a:r>
              <a:r>
                <a:rPr lang="en-US" sz="1600">
                  <a:solidFill>
                    <a:srgbClr val="FFFFFF"/>
                  </a:solidFill>
                </a:rPr>
                <a:t> </a:t>
              </a:r>
              <a:r>
                <a:rPr lang="en-US" sz="1600" err="1">
                  <a:solidFill>
                    <a:srgbClr val="FFFFFF"/>
                  </a:solidFill>
                </a:rPr>
                <a:t>Alkalmazás</a:t>
              </a:r>
              <a:endParaRPr lang="en-US" sz="1600" err="1"/>
            </a:p>
          </p:txBody>
        </p:sp>
        <p:sp>
          <p:nvSpPr>
            <p:cNvPr id="10" name="Text 8"/>
            <p:cNvSpPr/>
            <p:nvPr/>
          </p:nvSpPr>
          <p:spPr>
            <a:xfrm>
              <a:off x="2381339" y="4369485"/>
              <a:ext cx="813816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>
                  <a:solidFill>
                    <a:srgbClr val="BBAAAA"/>
                  </a:solidFill>
                </a:rPr>
                <a:t>BMSZC Bolyai </a:t>
              </a:r>
              <a:r>
                <a:rPr lang="en-US" sz="1200" err="1">
                  <a:solidFill>
                    <a:srgbClr val="BBAAAA"/>
                  </a:solidFill>
                </a:rPr>
                <a:t>Szakközép</a:t>
              </a:r>
              <a:r>
                <a:rPr lang="en-US" sz="1200">
                  <a:solidFill>
                    <a:srgbClr val="BBAAAA"/>
                  </a:solidFill>
                </a:rPr>
                <a:t> </a:t>
              </a:r>
              <a:r>
                <a:rPr lang="en-US" sz="1200" err="1">
                  <a:solidFill>
                    <a:srgbClr val="BBAAAA"/>
                  </a:solidFill>
                </a:rPr>
                <a:t>és</a:t>
              </a:r>
              <a:r>
                <a:rPr lang="en-US" sz="1200">
                  <a:solidFill>
                    <a:srgbClr val="BBAAAA"/>
                  </a:solidFill>
                </a:rPr>
                <a:t> </a:t>
              </a:r>
              <a:r>
                <a:rPr lang="en-US" sz="1200" err="1">
                  <a:solidFill>
                    <a:srgbClr val="BBAAAA"/>
                  </a:solidFill>
                </a:rPr>
                <a:t>Technikum</a:t>
              </a:r>
              <a:endParaRPr lang="en-US" sz="1200" err="1"/>
            </a:p>
          </p:txBody>
        </p:sp>
        <p:sp>
          <p:nvSpPr>
            <p:cNvPr id="11" name="Text 9"/>
            <p:cNvSpPr/>
            <p:nvPr/>
          </p:nvSpPr>
          <p:spPr>
            <a:xfrm>
              <a:off x="2381339" y="4643805"/>
              <a:ext cx="8138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err="1">
                  <a:solidFill>
                    <a:srgbClr val="BBAAAA"/>
                  </a:solidFill>
                </a:rPr>
                <a:t>Konzulens</a:t>
              </a:r>
              <a:r>
                <a:rPr lang="en-US" sz="1200">
                  <a:solidFill>
                    <a:srgbClr val="BBAAAA"/>
                  </a:solidFill>
                </a:rPr>
                <a:t>: </a:t>
              </a:r>
              <a:r>
                <a:rPr lang="en-US" sz="1200" err="1">
                  <a:solidFill>
                    <a:srgbClr val="BBAAAA"/>
                  </a:solidFill>
                </a:rPr>
                <a:t>Dorogházi</a:t>
              </a:r>
              <a:r>
                <a:rPr lang="en-US" sz="1200">
                  <a:solidFill>
                    <a:srgbClr val="BBAAAA"/>
                  </a:solidFill>
                </a:rPr>
                <a:t> Donát</a:t>
              </a:r>
              <a:endParaRPr lang="en-US" sz="1200"/>
            </a:p>
          </p:txBody>
        </p:sp>
        <p:sp>
          <p:nvSpPr>
            <p:cNvPr id="12" name="Text 10"/>
            <p:cNvSpPr/>
            <p:nvPr/>
          </p:nvSpPr>
          <p:spPr>
            <a:xfrm>
              <a:off x="10245179" y="5018709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b="1">
                  <a:solidFill>
                    <a:srgbClr val="DDBBCC"/>
                  </a:solidFill>
                </a:rPr>
                <a:t>1</a:t>
              </a:r>
              <a:endParaRPr lang="en-US" sz="1000"/>
            </a:p>
          </p:txBody>
        </p:sp>
      </p:grpSp>
      <p:pic>
        <p:nvPicPr>
          <p:cNvPr id="2" name="Kép 1" descr="A képen szöveg, embléma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2C68C4A3-1539-5649-67F8-EC81EAA10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720" y="4639531"/>
            <a:ext cx="1495425" cy="148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AE4882A5-C029-0C5D-CFD1-83D2159F95EE}"/>
              </a:ext>
            </a:extLst>
          </p:cNvPr>
          <p:cNvGrpSpPr/>
          <p:nvPr/>
        </p:nvGrpSpPr>
        <p:grpSpPr>
          <a:xfrm>
            <a:off x="1905608" y="1499159"/>
            <a:ext cx="8380785" cy="4718390"/>
            <a:chOff x="1603744" y="567070"/>
            <a:chExt cx="9144000" cy="5148072"/>
          </a:xfrm>
        </p:grpSpPr>
        <p:sp>
          <p:nvSpPr>
            <p:cNvPr id="2" name="Shape 0"/>
            <p:cNvSpPr/>
            <p:nvPr/>
          </p:nvSpPr>
          <p:spPr>
            <a:xfrm>
              <a:off x="1603744" y="567070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1603744" y="5623702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106664" y="1069990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2150" b="1" kern="1200" err="1">
                  <a:latin typeface="+mn-lt"/>
                  <a:ea typeface="+mn-ea"/>
                  <a:cs typeface="+mn-cs"/>
                </a:rPr>
                <a:t>Bevezetés</a:t>
              </a:r>
              <a:r>
                <a:rPr lang="en-US" sz="21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2150" b="1" kern="1200" err="1">
                  <a:latin typeface="+mn-lt"/>
                  <a:ea typeface="+mn-ea"/>
                  <a:cs typeface="+mn-cs"/>
                </a:rPr>
                <a:t>és</a:t>
              </a:r>
              <a:r>
                <a:rPr lang="en-US" sz="21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2150" b="1" kern="1200" err="1">
                  <a:latin typeface="+mn-lt"/>
                  <a:ea typeface="+mn-ea"/>
                  <a:cs typeface="+mn-cs"/>
                </a:rPr>
                <a:t>motiváció</a:t>
              </a:r>
              <a:endParaRPr lang="en-US" sz="2150" err="1"/>
            </a:p>
          </p:txBody>
        </p:sp>
        <p:sp>
          <p:nvSpPr>
            <p:cNvPr id="5" name="Shape 3"/>
            <p:cNvSpPr/>
            <p:nvPr/>
          </p:nvSpPr>
          <p:spPr>
            <a:xfrm>
              <a:off x="2106664" y="1545478"/>
              <a:ext cx="813816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2106664" y="1710070"/>
              <a:ext cx="3840480" cy="347472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216392" y="1737502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b="1" kern="1200">
                  <a:solidFill>
                    <a:srgbClr val="3D0A16"/>
                  </a:solidFill>
                  <a:latin typeface="+mn-lt"/>
                  <a:ea typeface="+mn-ea"/>
                  <a:cs typeface="+mn-cs"/>
                </a:rPr>
                <a:t>Mi az a Metabalance?</a:t>
              </a:r>
              <a:endParaRPr lang="en-US" sz="1300"/>
            </a:p>
          </p:txBody>
        </p:sp>
        <p:sp>
          <p:nvSpPr>
            <p:cNvPr id="8" name="Shape 6"/>
            <p:cNvSpPr/>
            <p:nvPr/>
          </p:nvSpPr>
          <p:spPr>
            <a:xfrm>
              <a:off x="2106664" y="2057542"/>
              <a:ext cx="3840480" cy="1600200"/>
            </a:xfrm>
            <a:prstGeom prst="rect">
              <a:avLst/>
            </a:prstGeom>
            <a:solidFill>
              <a:srgbClr val="541525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2243824" y="2222134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426704" y="2103262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9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Többplatformos életmód-követő app</a:t>
              </a:r>
              <a:endParaRPr lang="en-US" sz="1200"/>
            </a:p>
          </p:txBody>
        </p:sp>
        <p:sp>
          <p:nvSpPr>
            <p:cNvPr id="11" name="Shape 9"/>
            <p:cNvSpPr/>
            <p:nvPr/>
          </p:nvSpPr>
          <p:spPr>
            <a:xfrm>
              <a:off x="2243824" y="2606182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426704" y="2487310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9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Weboldal ÉS asztali alkalmazás egyben</a:t>
              </a:r>
              <a:endParaRPr lang="en-US" sz="1200"/>
            </a:p>
          </p:txBody>
        </p:sp>
        <p:sp>
          <p:nvSpPr>
            <p:cNvPr id="13" name="Shape 11"/>
            <p:cNvSpPr/>
            <p:nvPr/>
          </p:nvSpPr>
          <p:spPr>
            <a:xfrm>
              <a:off x="2243824" y="2990230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2426704" y="2871358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50" kern="1200" dirty="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Napi</a:t>
              </a:r>
              <a:r>
                <a:rPr lang="en-US" sz="10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dirty="0" err="1">
                  <a:solidFill>
                    <a:srgbClr val="FFFFFF"/>
                  </a:solidFill>
                </a:rPr>
                <a:t>szokások</a:t>
              </a:r>
              <a:r>
                <a:rPr lang="en-US" sz="10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dirty="0" err="1">
                  <a:solidFill>
                    <a:srgbClr val="FFFFFF"/>
                  </a:solidFill>
                </a:rPr>
                <a:t>követése</a:t>
              </a:r>
              <a:r>
                <a:rPr lang="en-US" sz="10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grafikonokkal</a:t>
              </a:r>
              <a:endParaRPr lang="en-US" sz="1200" dirty="0" err="1"/>
            </a:p>
          </p:txBody>
        </p:sp>
        <p:sp>
          <p:nvSpPr>
            <p:cNvPr id="15" name="Shape 13"/>
            <p:cNvSpPr/>
            <p:nvPr/>
          </p:nvSpPr>
          <p:spPr>
            <a:xfrm>
              <a:off x="2243824" y="3374278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426704" y="3255406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9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Rövid- és hosszú távú célok kezelése</a:t>
              </a:r>
              <a:endParaRPr lang="en-US" sz="1200"/>
            </a:p>
          </p:txBody>
        </p:sp>
        <p:sp>
          <p:nvSpPr>
            <p:cNvPr id="17" name="Shape 15"/>
            <p:cNvSpPr/>
            <p:nvPr/>
          </p:nvSpPr>
          <p:spPr>
            <a:xfrm>
              <a:off x="6221464" y="1710070"/>
              <a:ext cx="3840480" cy="347472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331192" y="1737502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b="1" kern="1200">
                  <a:solidFill>
                    <a:srgbClr val="3D0A16"/>
                  </a:solidFill>
                  <a:latin typeface="+mn-lt"/>
                  <a:ea typeface="+mn-ea"/>
                  <a:cs typeface="+mn-cs"/>
                </a:rPr>
                <a:t>Miért csináltuk?</a:t>
              </a:r>
              <a:endParaRPr lang="en-US" sz="130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21464" y="2057542"/>
              <a:ext cx="3840480" cy="1600200"/>
            </a:xfrm>
            <a:prstGeom prst="rect">
              <a:avLst/>
            </a:prstGeom>
            <a:solidFill>
              <a:srgbClr val="541525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358624" y="2222134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541504" y="2103262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9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Nehéz nyomon követni az egészséges szokásokat</a:t>
              </a:r>
              <a:endParaRPr lang="en-US" sz="1200"/>
            </a:p>
          </p:txBody>
        </p:sp>
        <p:sp>
          <p:nvSpPr>
            <p:cNvPr id="22" name="Shape 20"/>
            <p:cNvSpPr/>
            <p:nvPr/>
          </p:nvSpPr>
          <p:spPr>
            <a:xfrm>
              <a:off x="6358624" y="2606182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541504" y="2487310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9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Meglévő appok bonyolultak vagy egyplatformosak</a:t>
              </a:r>
              <a:endParaRPr lang="en-US" sz="1200"/>
            </a:p>
          </p:txBody>
        </p:sp>
        <p:sp>
          <p:nvSpPr>
            <p:cNvPr id="24" name="Shape 22"/>
            <p:cNvSpPr/>
            <p:nvPr/>
          </p:nvSpPr>
          <p:spPr>
            <a:xfrm>
              <a:off x="6358624" y="2990230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541504" y="2871358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50" err="1">
                  <a:solidFill>
                    <a:srgbClr val="FFFFFF"/>
                  </a:solidFill>
                </a:rPr>
                <a:t>Könnyen</a:t>
              </a:r>
              <a:r>
                <a:rPr lang="en-US" sz="1050">
                  <a:solidFill>
                    <a:srgbClr val="FFFFFF"/>
                  </a:solidFill>
                </a:rPr>
                <a:t> </a:t>
              </a:r>
              <a:r>
                <a:rPr lang="en-US" sz="1050" err="1">
                  <a:solidFill>
                    <a:srgbClr val="FFFFFF"/>
                  </a:solidFill>
                </a:rPr>
                <a:t>kezelhető</a:t>
              </a:r>
              <a:r>
                <a:rPr lang="en-US" sz="1050">
                  <a:solidFill>
                    <a:srgbClr val="FFFFFF"/>
                  </a:solidFill>
                </a:rPr>
                <a:t> </a:t>
              </a:r>
              <a:r>
                <a:rPr lang="en-US" sz="1050" err="1">
                  <a:solidFill>
                    <a:srgbClr val="FFFFFF"/>
                  </a:solidFill>
                </a:rPr>
                <a:t>felületet</a:t>
              </a:r>
              <a:r>
                <a:rPr lang="en-US" sz="1050">
                  <a:solidFill>
                    <a:srgbClr val="FFFFFF"/>
                  </a:solidFill>
                </a:rPr>
                <a:t> akartunk létrehozni</a:t>
              </a:r>
            </a:p>
          </p:txBody>
        </p:sp>
        <p:sp>
          <p:nvSpPr>
            <p:cNvPr id="26" name="Shape 24"/>
            <p:cNvSpPr/>
            <p:nvPr/>
          </p:nvSpPr>
          <p:spPr>
            <a:xfrm>
              <a:off x="6358624" y="3374278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541504" y="3255406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832104">
                <a:spcAft>
                  <a:spcPts val="600"/>
                </a:spcAft>
              </a:pPr>
              <a:r>
                <a:rPr lang="en-US" sz="1050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Személyes</a:t>
              </a:r>
              <a:r>
                <a:rPr lang="en-US" sz="105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érdeklődés</a:t>
              </a:r>
              <a:r>
                <a:rPr lang="en-US" sz="105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az</a:t>
              </a:r>
              <a:r>
                <a:rPr lang="en-US" sz="105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egészséges</a:t>
              </a:r>
              <a:r>
                <a:rPr lang="en-US" sz="105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életmód</a:t>
              </a:r>
              <a:r>
                <a:rPr lang="en-US" sz="105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iránt</a:t>
              </a:r>
              <a:endParaRPr lang="en-US" sz="1050" err="1"/>
            </a:p>
          </p:txBody>
        </p:sp>
        <p:sp>
          <p:nvSpPr>
            <p:cNvPr id="28" name="Text 26"/>
            <p:cNvSpPr/>
            <p:nvPr/>
          </p:nvSpPr>
          <p:spPr>
            <a:xfrm>
              <a:off x="2106664" y="3767470"/>
              <a:ext cx="8138160" cy="320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250" b="1" kern="1200" err="1">
                  <a:latin typeface="+mn-lt"/>
                  <a:ea typeface="+mn-ea"/>
                  <a:cs typeface="+mn-cs"/>
                </a:rPr>
                <a:t>Követett</a:t>
              </a:r>
              <a:r>
                <a:rPr lang="en-US" sz="12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250" b="1" kern="1200" err="1">
                  <a:latin typeface="+mn-lt"/>
                  <a:ea typeface="+mn-ea"/>
                  <a:cs typeface="+mn-cs"/>
                </a:rPr>
                <a:t>adatok</a:t>
              </a:r>
              <a:r>
                <a:rPr lang="en-US" sz="1250" b="1" kern="1200">
                  <a:latin typeface="+mn-lt"/>
                  <a:ea typeface="+mn-ea"/>
                  <a:cs typeface="+mn-cs"/>
                </a:rPr>
                <a:t>:</a:t>
              </a:r>
              <a:endParaRPr lang="en-US" sz="1250"/>
            </a:p>
          </p:txBody>
        </p:sp>
        <p:sp>
          <p:nvSpPr>
            <p:cNvPr id="29" name="Shape 27"/>
            <p:cNvSpPr/>
            <p:nvPr/>
          </p:nvSpPr>
          <p:spPr>
            <a:xfrm>
              <a:off x="2106664" y="4133230"/>
              <a:ext cx="2578608" cy="42062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2216392" y="4133230"/>
              <a:ext cx="2377440" cy="42062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3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Vízfogyasztás</a:t>
              </a:r>
              <a:endParaRPr lang="en-US" sz="1300" err="1"/>
            </a:p>
          </p:txBody>
        </p:sp>
        <p:sp>
          <p:nvSpPr>
            <p:cNvPr id="31" name="Shape 29"/>
            <p:cNvSpPr/>
            <p:nvPr/>
          </p:nvSpPr>
          <p:spPr>
            <a:xfrm>
              <a:off x="4822432" y="4133230"/>
              <a:ext cx="2578608" cy="42062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932160" y="4133230"/>
              <a:ext cx="2377440" cy="42062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3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Kalóriabevitel</a:t>
              </a:r>
              <a:endParaRPr lang="en-US" sz="1300" err="1"/>
            </a:p>
          </p:txBody>
        </p:sp>
        <p:sp>
          <p:nvSpPr>
            <p:cNvPr id="33" name="Shape 31"/>
            <p:cNvSpPr/>
            <p:nvPr/>
          </p:nvSpPr>
          <p:spPr>
            <a:xfrm>
              <a:off x="7538200" y="4133230"/>
              <a:ext cx="2578608" cy="42062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7647928" y="4133230"/>
              <a:ext cx="2377440" cy="42062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3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Alvás</a:t>
              </a:r>
              <a:endParaRPr lang="en-US" sz="1300" err="1"/>
            </a:p>
          </p:txBody>
        </p:sp>
        <p:sp>
          <p:nvSpPr>
            <p:cNvPr id="35" name="Shape 33"/>
            <p:cNvSpPr/>
            <p:nvPr/>
          </p:nvSpPr>
          <p:spPr>
            <a:xfrm>
              <a:off x="2106664" y="4636150"/>
              <a:ext cx="2578608" cy="42062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2216392" y="4636150"/>
              <a:ext cx="2377440" cy="42062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Testsúly</a:t>
              </a:r>
              <a:endParaRPr lang="en-US" sz="1300" err="1"/>
            </a:p>
          </p:txBody>
        </p:sp>
        <p:sp>
          <p:nvSpPr>
            <p:cNvPr id="37" name="Shape 35"/>
            <p:cNvSpPr/>
            <p:nvPr/>
          </p:nvSpPr>
          <p:spPr>
            <a:xfrm>
              <a:off x="4822432" y="4636150"/>
              <a:ext cx="2578608" cy="42062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932160" y="4636150"/>
              <a:ext cx="2377440" cy="42062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832104">
                <a:spcAft>
                  <a:spcPts val="600"/>
                </a:spcAft>
              </a:pPr>
              <a:r>
                <a:rPr lang="en-US" sz="1183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Hangulat</a:t>
              </a:r>
              <a:endParaRPr lang="en-US" sz="1300" err="1"/>
            </a:p>
          </p:txBody>
        </p:sp>
        <p:sp>
          <p:nvSpPr>
            <p:cNvPr id="41" name="Text 39"/>
            <p:cNvSpPr/>
            <p:nvPr/>
          </p:nvSpPr>
          <p:spPr>
            <a:xfrm>
              <a:off x="9970504" y="5257942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832104">
                <a:spcAft>
                  <a:spcPts val="600"/>
                </a:spcAft>
              </a:pPr>
              <a:r>
                <a:rPr lang="en-US" sz="910" b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Csoportba foglalás 59">
            <a:extLst>
              <a:ext uri="{FF2B5EF4-FFF2-40B4-BE49-F238E27FC236}">
                <a16:creationId xmlns:a16="http://schemas.microsoft.com/office/drawing/2014/main" id="{2E641CFD-CB5A-5FC6-F997-2FA73BC4345E}"/>
              </a:ext>
            </a:extLst>
          </p:cNvPr>
          <p:cNvGrpSpPr/>
          <p:nvPr/>
        </p:nvGrpSpPr>
        <p:grpSpPr>
          <a:xfrm>
            <a:off x="1148338" y="643466"/>
            <a:ext cx="9895323" cy="5571054"/>
            <a:chOff x="0" y="0"/>
            <a:chExt cx="9144000" cy="514807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5056632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502920" y="502920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2550" b="1" kern="1200" err="1">
                  <a:latin typeface="+mn-lt"/>
                  <a:ea typeface="+mn-ea"/>
                  <a:cs typeface="+mn-cs"/>
                </a:rPr>
                <a:t>Munkamegosztás</a:t>
              </a:r>
              <a:endParaRPr lang="en-US" sz="2550" err="1"/>
            </a:p>
          </p:txBody>
        </p:sp>
        <p:sp>
          <p:nvSpPr>
            <p:cNvPr id="5" name="Shape 3"/>
            <p:cNvSpPr/>
            <p:nvPr/>
          </p:nvSpPr>
          <p:spPr>
            <a:xfrm>
              <a:off x="502920" y="978408"/>
              <a:ext cx="813816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502920" y="1115568"/>
              <a:ext cx="2578608" cy="384048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94360" y="1143000"/>
              <a:ext cx="2395728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b="1" kern="1200">
                  <a:solidFill>
                    <a:srgbClr val="3D0A16"/>
                  </a:solidFill>
                  <a:latin typeface="+mn-lt"/>
                  <a:ea typeface="+mn-ea"/>
                  <a:cs typeface="+mn-cs"/>
                </a:rPr>
                <a:t>Buttyán Péter</a:t>
              </a:r>
              <a:endParaRPr lang="en-US" sz="12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99616"/>
              <a:ext cx="2578608" cy="29260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94360" y="1508760"/>
              <a:ext cx="23957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080" i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Frontend fejlesztő</a:t>
              </a:r>
              <a:endParaRPr lang="en-US" sz="1000"/>
            </a:p>
          </p:txBody>
        </p:sp>
        <p:sp>
          <p:nvSpPr>
            <p:cNvPr id="10" name="Shape 8"/>
            <p:cNvSpPr/>
            <p:nvPr/>
          </p:nvSpPr>
          <p:spPr>
            <a:xfrm>
              <a:off x="502920" y="1792224"/>
              <a:ext cx="2578608" cy="2880360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612648" y="2002536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58952" y="1883664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React (Vite) webalkalmazás</a:t>
              </a:r>
              <a:endParaRPr lang="en-US" sz="1050"/>
            </a:p>
          </p:txBody>
        </p:sp>
        <p:sp>
          <p:nvSpPr>
            <p:cNvPr id="13" name="Shape 11"/>
            <p:cNvSpPr/>
            <p:nvPr/>
          </p:nvSpPr>
          <p:spPr>
            <a:xfrm>
              <a:off x="612648" y="2450592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58952" y="2331720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Összes UI oldal és komponens</a:t>
              </a:r>
              <a:endParaRPr lang="en-US" sz="105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2648" y="2898648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58952" y="2779776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Reszponzív dizájn (Bootstrap 5)</a:t>
              </a:r>
              <a:endParaRPr lang="en-US" sz="105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2648" y="3346704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58952" y="3227832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Recharts grafikonok</a:t>
              </a:r>
              <a:endParaRPr lang="en-US" sz="1050"/>
            </a:p>
          </p:txBody>
        </p:sp>
        <p:sp>
          <p:nvSpPr>
            <p:cNvPr id="19" name="Shape 17"/>
            <p:cNvSpPr/>
            <p:nvPr/>
          </p:nvSpPr>
          <p:spPr>
            <a:xfrm>
              <a:off x="612648" y="3794760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58952" y="3675888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Frontend unit tesztelés (Vitest)</a:t>
              </a:r>
              <a:endParaRPr lang="en-US" sz="1050"/>
            </a:p>
          </p:txBody>
        </p:sp>
        <p:sp>
          <p:nvSpPr>
            <p:cNvPr id="21" name="Shape 19"/>
            <p:cNvSpPr/>
            <p:nvPr/>
          </p:nvSpPr>
          <p:spPr>
            <a:xfrm>
              <a:off x="612648" y="4242816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58952" y="4123944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E2E tesztelés (Cypress)</a:t>
              </a:r>
              <a:endParaRPr lang="en-US" sz="1050"/>
            </a:p>
          </p:txBody>
        </p:sp>
        <p:sp>
          <p:nvSpPr>
            <p:cNvPr id="23" name="Shape 21"/>
            <p:cNvSpPr/>
            <p:nvPr/>
          </p:nvSpPr>
          <p:spPr>
            <a:xfrm>
              <a:off x="3246120" y="1115568"/>
              <a:ext cx="2578608" cy="384048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337560" y="1143000"/>
              <a:ext cx="2395728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b="1" kern="1200">
                  <a:solidFill>
                    <a:srgbClr val="3D0A16"/>
                  </a:solidFill>
                  <a:latin typeface="+mn-lt"/>
                  <a:ea typeface="+mn-ea"/>
                  <a:cs typeface="+mn-cs"/>
                </a:rPr>
                <a:t>Körtvélyesi Roland</a:t>
              </a:r>
              <a:endParaRPr lang="en-US" sz="120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46120" y="1499616"/>
              <a:ext cx="2578608" cy="29260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337560" y="1508760"/>
              <a:ext cx="23957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080" i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Backend &amp; Adatbázis</a:t>
              </a:r>
              <a:endParaRPr lang="en-US" sz="100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46120" y="1792224"/>
              <a:ext cx="2578608" cy="2880360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355848" y="2002536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502152" y="1883664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Node.js / Express REST API</a:t>
              </a:r>
              <a:endParaRPr lang="en-US" sz="1050"/>
            </a:p>
          </p:txBody>
        </p:sp>
        <p:sp>
          <p:nvSpPr>
            <p:cNvPr id="30" name="Shape 28"/>
            <p:cNvSpPr/>
            <p:nvPr/>
          </p:nvSpPr>
          <p:spPr>
            <a:xfrm>
              <a:off x="3355848" y="2450592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502152" y="2331720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MySQL adatbázis tervezése</a:t>
              </a:r>
              <a:endParaRPr lang="en-US" sz="1050"/>
            </a:p>
          </p:txBody>
        </p:sp>
        <p:sp>
          <p:nvSpPr>
            <p:cNvPr id="32" name="Shape 30"/>
            <p:cNvSpPr/>
            <p:nvPr/>
          </p:nvSpPr>
          <p:spPr>
            <a:xfrm>
              <a:off x="3355848" y="2898648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502152" y="2779776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JWT hitelesítés és biztonság</a:t>
              </a:r>
              <a:endParaRPr lang="en-US" sz="1050"/>
            </a:p>
          </p:txBody>
        </p:sp>
        <p:sp>
          <p:nvSpPr>
            <p:cNvPr id="34" name="Shape 32"/>
            <p:cNvSpPr/>
            <p:nvPr/>
          </p:nvSpPr>
          <p:spPr>
            <a:xfrm>
              <a:off x="3355848" y="3346704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3502152" y="3227832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API végpontok implementálása</a:t>
              </a:r>
              <a:endParaRPr lang="en-US" sz="1050"/>
            </a:p>
          </p:txBody>
        </p:sp>
        <p:sp>
          <p:nvSpPr>
            <p:cNvPr id="36" name="Shape 34"/>
            <p:cNvSpPr/>
            <p:nvPr/>
          </p:nvSpPr>
          <p:spPr>
            <a:xfrm>
              <a:off x="3355848" y="3794760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3502152" y="3675888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Funkcionális és nem funkcionális tesztek</a:t>
              </a:r>
              <a:endParaRPr lang="en-US" sz="1050"/>
            </a:p>
          </p:txBody>
        </p:sp>
        <p:sp>
          <p:nvSpPr>
            <p:cNvPr id="38" name="Shape 36"/>
            <p:cNvSpPr/>
            <p:nvPr/>
          </p:nvSpPr>
          <p:spPr>
            <a:xfrm>
              <a:off x="3355848" y="4242816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502152" y="4123944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phpMyAdmin adminisztráció</a:t>
              </a:r>
              <a:endParaRPr lang="en-US" sz="1050"/>
            </a:p>
          </p:txBody>
        </p:sp>
        <p:sp>
          <p:nvSpPr>
            <p:cNvPr id="40" name="Shape 38"/>
            <p:cNvSpPr/>
            <p:nvPr/>
          </p:nvSpPr>
          <p:spPr>
            <a:xfrm>
              <a:off x="5989320" y="1115568"/>
              <a:ext cx="2578608" cy="384048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6080760" y="1143000"/>
              <a:ext cx="2395728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b="1" kern="1200">
                  <a:solidFill>
                    <a:srgbClr val="3D0A16"/>
                  </a:solidFill>
                  <a:latin typeface="+mn-lt"/>
                  <a:ea typeface="+mn-ea"/>
                  <a:cs typeface="+mn-cs"/>
                </a:rPr>
                <a:t>Mészáros Nándor</a:t>
              </a:r>
              <a:endParaRPr lang="en-US" sz="1200"/>
            </a:p>
          </p:txBody>
        </p:sp>
        <p:sp>
          <p:nvSpPr>
            <p:cNvPr id="42" name="Shape 40"/>
            <p:cNvSpPr/>
            <p:nvPr/>
          </p:nvSpPr>
          <p:spPr>
            <a:xfrm>
              <a:off x="5989320" y="1499616"/>
              <a:ext cx="2578608" cy="29260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6080760" y="1508760"/>
              <a:ext cx="23957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080" i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Asztali alkalmazás fejlesztő</a:t>
              </a:r>
              <a:endParaRPr lang="en-US" sz="1000"/>
            </a:p>
          </p:txBody>
        </p:sp>
        <p:sp>
          <p:nvSpPr>
            <p:cNvPr id="44" name="Shape 42"/>
            <p:cNvSpPr/>
            <p:nvPr/>
          </p:nvSpPr>
          <p:spPr>
            <a:xfrm>
              <a:off x="5989320" y="1792224"/>
              <a:ext cx="2578608" cy="2880360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6099048" y="2002536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6245352" y="1883664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.NET 8 WPF asztali alkalmazás</a:t>
              </a:r>
              <a:endParaRPr lang="en-US" sz="1050"/>
            </a:p>
          </p:txBody>
        </p:sp>
        <p:sp>
          <p:nvSpPr>
            <p:cNvPr id="47" name="Shape 45"/>
            <p:cNvSpPr/>
            <p:nvPr/>
          </p:nvSpPr>
          <p:spPr>
            <a:xfrm>
              <a:off x="6099048" y="2450592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6245352" y="2331720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Összes XAML oldal és navigáció</a:t>
              </a:r>
              <a:endParaRPr lang="en-US" sz="1050"/>
            </a:p>
          </p:txBody>
        </p:sp>
        <p:sp>
          <p:nvSpPr>
            <p:cNvPr id="49" name="Shape 47"/>
            <p:cNvSpPr/>
            <p:nvPr/>
          </p:nvSpPr>
          <p:spPr>
            <a:xfrm>
              <a:off x="6099048" y="2898648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6245352" y="2779776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API integráció (HttpClient)</a:t>
              </a:r>
              <a:endParaRPr lang="en-US" sz="1050"/>
            </a:p>
          </p:txBody>
        </p:sp>
        <p:sp>
          <p:nvSpPr>
            <p:cNvPr id="51" name="Shape 49"/>
            <p:cNvSpPr/>
            <p:nvPr/>
          </p:nvSpPr>
          <p:spPr>
            <a:xfrm>
              <a:off x="6099048" y="3346704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6245352" y="3227832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Profilkép kezelés</a:t>
              </a:r>
              <a:endParaRPr lang="en-US" sz="1050"/>
            </a:p>
          </p:txBody>
        </p:sp>
        <p:sp>
          <p:nvSpPr>
            <p:cNvPr id="53" name="Shape 51"/>
            <p:cNvSpPr/>
            <p:nvPr/>
          </p:nvSpPr>
          <p:spPr>
            <a:xfrm>
              <a:off x="6099048" y="3794760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6245352" y="3675888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00">
                  <a:solidFill>
                    <a:srgbClr val="FFFFFF"/>
                  </a:solidFill>
                </a:rPr>
                <a:t>Toast értesítési rendszer</a:t>
              </a:r>
              <a:endParaRPr lang="en-US" sz="1050">
                <a:solidFill>
                  <a:srgbClr val="000000"/>
                </a:solidFill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6099048" y="4242816"/>
              <a:ext cx="91440" cy="91440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6245352" y="4123944"/>
              <a:ext cx="223113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Asztali app tesztelése</a:t>
              </a:r>
              <a:endParaRPr lang="en-US" sz="1050"/>
            </a:p>
          </p:txBody>
        </p:sp>
        <p:sp>
          <p:nvSpPr>
            <p:cNvPr id="57" name="Shape 55"/>
            <p:cNvSpPr/>
            <p:nvPr/>
          </p:nvSpPr>
          <p:spPr>
            <a:xfrm>
              <a:off x="370013" y="4680098"/>
              <a:ext cx="8138160" cy="274320"/>
            </a:xfrm>
            <a:prstGeom prst="rect">
              <a:avLst/>
            </a:prstGeom>
            <a:solidFill>
              <a:srgbClr val="3D0A16"/>
            </a:solidFill>
            <a:ln w="12700">
              <a:solidFill>
                <a:srgbClr val="3D0A16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370013" y="4688958"/>
              <a:ext cx="8138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08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Módszertan: SCRUM (Agilis)  |  Sprintek: 1 hét  |  Eszközök: Trello · Teams · Discord</a:t>
              </a:r>
              <a:endParaRPr lang="en-US" sz="1000"/>
            </a:p>
          </p:txBody>
        </p:sp>
        <p:sp>
          <p:nvSpPr>
            <p:cNvPr id="59" name="Text 57"/>
            <p:cNvSpPr/>
            <p:nvPr/>
          </p:nvSpPr>
          <p:spPr>
            <a:xfrm>
              <a:off x="8207272" y="4708593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533B8FD6-59AA-55AF-DFA4-E3F7420D2419}"/>
              </a:ext>
            </a:extLst>
          </p:cNvPr>
          <p:cNvGrpSpPr/>
          <p:nvPr/>
        </p:nvGrpSpPr>
        <p:grpSpPr>
          <a:xfrm>
            <a:off x="1148338" y="643464"/>
            <a:ext cx="9895323" cy="5571054"/>
            <a:chOff x="894522" y="629478"/>
            <a:chExt cx="9144000" cy="5148072"/>
          </a:xfrm>
        </p:grpSpPr>
        <p:sp>
          <p:nvSpPr>
            <p:cNvPr id="2" name="Shape 0"/>
            <p:cNvSpPr/>
            <p:nvPr/>
          </p:nvSpPr>
          <p:spPr>
            <a:xfrm>
              <a:off x="894522" y="629478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894522" y="5686110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1397442" y="1143442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2550" b="1" kern="1200" err="1">
                  <a:latin typeface="+mn-lt"/>
                  <a:ea typeface="+mn-ea"/>
                  <a:cs typeface="+mn-cs"/>
                </a:rPr>
                <a:t>Tervezés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– </a:t>
              </a:r>
              <a:r>
                <a:rPr lang="en-US" sz="2550" b="1" kern="1200" err="1">
                  <a:latin typeface="+mn-lt"/>
                  <a:ea typeface="+mn-ea"/>
                  <a:cs typeface="+mn-cs"/>
                </a:rPr>
                <a:t>Architektúra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2550" b="1" kern="1200" err="1">
                  <a:latin typeface="+mn-lt"/>
                  <a:ea typeface="+mn-ea"/>
                  <a:cs typeface="+mn-cs"/>
                </a:rPr>
                <a:t>és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2550" b="1" kern="1200" err="1">
                  <a:latin typeface="+mn-lt"/>
                  <a:ea typeface="+mn-ea"/>
                  <a:cs typeface="+mn-cs"/>
                </a:rPr>
                <a:t>technológiai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stack</a:t>
              </a:r>
              <a:endParaRPr lang="en-US" sz="2550"/>
            </a:p>
          </p:txBody>
        </p:sp>
        <p:sp>
          <p:nvSpPr>
            <p:cNvPr id="5" name="Shape 3"/>
            <p:cNvSpPr/>
            <p:nvPr/>
          </p:nvSpPr>
          <p:spPr>
            <a:xfrm>
              <a:off x="1397442" y="1607886"/>
              <a:ext cx="813816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1397442" y="1829242"/>
              <a:ext cx="4023360" cy="365760"/>
            </a:xfrm>
            <a:prstGeom prst="rect">
              <a:avLst/>
            </a:prstGeom>
            <a:solidFill>
              <a:srgbClr val="88AAFF"/>
            </a:solidFill>
            <a:ln w="12700">
              <a:solidFill>
                <a:srgbClr val="88AA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1507170" y="186391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4" b="1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Frontend (Web)</a:t>
              </a:r>
              <a:endParaRPr lang="en-US" sz="1300"/>
            </a:p>
          </p:txBody>
        </p:sp>
        <p:sp>
          <p:nvSpPr>
            <p:cNvPr id="8" name="Shape 6"/>
            <p:cNvSpPr/>
            <p:nvPr/>
          </p:nvSpPr>
          <p:spPr>
            <a:xfrm>
              <a:off x="1397442" y="2183958"/>
              <a:ext cx="4023360" cy="457200"/>
            </a:xfrm>
            <a:prstGeom prst="rect">
              <a:avLst/>
            </a:prstGeom>
            <a:solidFill>
              <a:srgbClr val="5A1B2B"/>
            </a:solidFill>
            <a:ln w="10160">
              <a:solidFill>
                <a:srgbClr val="995566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1507170" y="2240722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React 19  ·  Vite  ·  Bootstrap 5  ·  Recharts</a:t>
              </a:r>
              <a:endParaRPr lang="en-US" sz="1200"/>
            </a:p>
          </p:txBody>
        </p:sp>
        <p:sp>
          <p:nvSpPr>
            <p:cNvPr id="10" name="Text 8"/>
            <p:cNvSpPr/>
            <p:nvPr/>
          </p:nvSpPr>
          <p:spPr>
            <a:xfrm>
              <a:off x="3134802" y="2652202"/>
              <a:ext cx="54864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▼</a:t>
              </a:r>
              <a:endParaRPr lang="en-US" sz="1200"/>
            </a:p>
          </p:txBody>
        </p:sp>
        <p:sp>
          <p:nvSpPr>
            <p:cNvPr id="11" name="Shape 9"/>
            <p:cNvSpPr/>
            <p:nvPr/>
          </p:nvSpPr>
          <p:spPr>
            <a:xfrm>
              <a:off x="1397442" y="2789362"/>
              <a:ext cx="4023360" cy="36576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507170" y="282403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4" b="1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Backend (API)</a:t>
              </a:r>
              <a:endParaRPr lang="en-US" sz="1300"/>
            </a:p>
          </p:txBody>
        </p:sp>
        <p:sp>
          <p:nvSpPr>
            <p:cNvPr id="13" name="Shape 11"/>
            <p:cNvSpPr/>
            <p:nvPr/>
          </p:nvSpPr>
          <p:spPr>
            <a:xfrm>
              <a:off x="1397442" y="3155122"/>
              <a:ext cx="4023360" cy="457200"/>
            </a:xfrm>
            <a:prstGeom prst="rect">
              <a:avLst/>
            </a:prstGeom>
            <a:solidFill>
              <a:srgbClr val="5A1B2B"/>
            </a:solidFill>
            <a:ln w="10160">
              <a:solidFill>
                <a:srgbClr val="995566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507170" y="3200842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Node.js  ·  Express  ·  TypeScript  ·  JWT  ·  bcrypt</a:t>
              </a:r>
              <a:endParaRPr lang="en-US" sz="1200"/>
            </a:p>
          </p:txBody>
        </p:sp>
        <p:sp>
          <p:nvSpPr>
            <p:cNvPr id="15" name="Text 13"/>
            <p:cNvSpPr/>
            <p:nvPr/>
          </p:nvSpPr>
          <p:spPr>
            <a:xfrm>
              <a:off x="3134802" y="3601278"/>
              <a:ext cx="54864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▼</a:t>
              </a:r>
              <a:endParaRPr lang="en-US" sz="1200"/>
            </a:p>
          </p:txBody>
        </p:sp>
        <p:sp>
          <p:nvSpPr>
            <p:cNvPr id="16" name="Shape 14"/>
            <p:cNvSpPr/>
            <p:nvPr/>
          </p:nvSpPr>
          <p:spPr>
            <a:xfrm>
              <a:off x="1397442" y="3738438"/>
              <a:ext cx="4023360" cy="365760"/>
            </a:xfrm>
            <a:prstGeom prst="rect">
              <a:avLst/>
            </a:prstGeom>
            <a:solidFill>
              <a:srgbClr val="D46B6B"/>
            </a:solidFill>
            <a:ln w="12700">
              <a:solidFill>
                <a:srgbClr val="D46B6B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507170" y="378415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4" b="1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Adatbázis</a:t>
              </a:r>
              <a:endParaRPr lang="en-US" sz="1300"/>
            </a:p>
          </p:txBody>
        </p:sp>
        <p:sp>
          <p:nvSpPr>
            <p:cNvPr id="18" name="Shape 16"/>
            <p:cNvSpPr/>
            <p:nvPr/>
          </p:nvSpPr>
          <p:spPr>
            <a:xfrm>
              <a:off x="1397442" y="4104198"/>
              <a:ext cx="4023360" cy="457200"/>
            </a:xfrm>
            <a:prstGeom prst="rect">
              <a:avLst/>
            </a:prstGeom>
            <a:solidFill>
              <a:srgbClr val="5A1B2B"/>
            </a:solidFill>
            <a:ln w="10160">
              <a:solidFill>
                <a:srgbClr val="995566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507170" y="4149918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MySQL 8  ·  phpMyAdmin</a:t>
              </a:r>
              <a:endParaRPr lang="en-US" sz="1200"/>
            </a:p>
          </p:txBody>
        </p:sp>
        <p:sp>
          <p:nvSpPr>
            <p:cNvPr id="20" name="Shape 18"/>
            <p:cNvSpPr/>
            <p:nvPr/>
          </p:nvSpPr>
          <p:spPr>
            <a:xfrm>
              <a:off x="1408485" y="4748916"/>
              <a:ext cx="4023360" cy="365760"/>
            </a:xfrm>
            <a:prstGeom prst="rect">
              <a:avLst/>
            </a:prstGeom>
            <a:solidFill>
              <a:srgbClr val="D4956B"/>
            </a:solidFill>
            <a:ln w="12700">
              <a:solidFill>
                <a:srgbClr val="D4956B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518213" y="4794636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4" b="1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Asztali alkalmazás</a:t>
              </a:r>
              <a:endParaRPr lang="en-US" sz="1300"/>
            </a:p>
          </p:txBody>
        </p:sp>
        <p:sp>
          <p:nvSpPr>
            <p:cNvPr id="22" name="Shape 20"/>
            <p:cNvSpPr/>
            <p:nvPr/>
          </p:nvSpPr>
          <p:spPr>
            <a:xfrm>
              <a:off x="1408485" y="5114676"/>
              <a:ext cx="4023360" cy="457200"/>
            </a:xfrm>
            <a:prstGeom prst="rect">
              <a:avLst/>
            </a:prstGeom>
            <a:solidFill>
              <a:srgbClr val="5A1B2B"/>
            </a:solidFill>
            <a:ln w="10160">
              <a:solidFill>
                <a:srgbClr val="995566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1518213" y="5160396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296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.NET 8.0  ·  WPF  ·  XAML  ·  </a:t>
              </a:r>
              <a:r>
                <a:rPr lang="en-US" sz="1296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HttpClient</a:t>
              </a:r>
              <a:r>
                <a:rPr lang="en-US" sz="1296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 →  </a:t>
              </a:r>
              <a:r>
                <a:rPr lang="en-US" sz="1296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ugyanaz</a:t>
              </a:r>
              <a:r>
                <a:rPr lang="en-US" sz="1296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a REST API</a:t>
              </a:r>
              <a:endParaRPr lang="en-US" sz="1200"/>
            </a:p>
          </p:txBody>
        </p:sp>
        <p:sp>
          <p:nvSpPr>
            <p:cNvPr id="24" name="Text 22"/>
            <p:cNvSpPr/>
            <p:nvPr/>
          </p:nvSpPr>
          <p:spPr>
            <a:xfrm>
              <a:off x="5695122" y="177247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620" b="1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Fejlesztési eszközök</a:t>
              </a:r>
              <a:endParaRPr lang="en-US" sz="150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5122" y="2183958"/>
              <a:ext cx="3840480" cy="411480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86562" y="2240722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IDE</a:t>
              </a:r>
              <a:endParaRPr lang="en-US" sz="1000"/>
            </a:p>
          </p:txBody>
        </p:sp>
        <p:sp>
          <p:nvSpPr>
            <p:cNvPr id="27" name="Text 25"/>
            <p:cNvSpPr/>
            <p:nvPr/>
          </p:nvSpPr>
          <p:spPr>
            <a:xfrm>
              <a:off x="6929562" y="2240722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 Code (web/backend) · Visual Studio 2022 (desktop)</a:t>
              </a:r>
              <a:endParaRPr lang="en-US" sz="1050"/>
            </a:p>
          </p:txBody>
        </p:sp>
        <p:sp>
          <p:nvSpPr>
            <p:cNvPr id="28" name="Shape 26"/>
            <p:cNvSpPr/>
            <p:nvPr/>
          </p:nvSpPr>
          <p:spPr>
            <a:xfrm>
              <a:off x="5695122" y="2659446"/>
              <a:ext cx="3840480" cy="411480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5786562" y="2716210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Verziókövetés</a:t>
              </a:r>
              <a:endParaRPr lang="en-US" sz="1000"/>
            </a:p>
          </p:txBody>
        </p:sp>
        <p:sp>
          <p:nvSpPr>
            <p:cNvPr id="30" name="Text 28"/>
            <p:cNvSpPr/>
            <p:nvPr/>
          </p:nvSpPr>
          <p:spPr>
            <a:xfrm>
              <a:off x="6929562" y="2716210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Git · GitHub</a:t>
              </a:r>
              <a:endParaRPr lang="en-US" sz="1050"/>
            </a:p>
          </p:txBody>
        </p:sp>
        <p:sp>
          <p:nvSpPr>
            <p:cNvPr id="31" name="Shape 29"/>
            <p:cNvSpPr/>
            <p:nvPr/>
          </p:nvSpPr>
          <p:spPr>
            <a:xfrm>
              <a:off x="5695122" y="3145978"/>
              <a:ext cx="3840480" cy="411480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5786562" y="3180654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Adatbázis</a:t>
              </a:r>
              <a:endParaRPr lang="en-US" sz="1000"/>
            </a:p>
          </p:txBody>
        </p:sp>
        <p:sp>
          <p:nvSpPr>
            <p:cNvPr id="33" name="Text 31"/>
            <p:cNvSpPr/>
            <p:nvPr/>
          </p:nvSpPr>
          <p:spPr>
            <a:xfrm>
              <a:off x="6929562" y="3180654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MySQL Workbench · phpMyAdmin</a:t>
              </a:r>
              <a:endParaRPr lang="en-US" sz="1050"/>
            </a:p>
          </p:txBody>
        </p:sp>
        <p:sp>
          <p:nvSpPr>
            <p:cNvPr id="34" name="Shape 32"/>
            <p:cNvSpPr/>
            <p:nvPr/>
          </p:nvSpPr>
          <p:spPr>
            <a:xfrm>
              <a:off x="5695122" y="3610422"/>
              <a:ext cx="3840480" cy="411480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786562" y="3656142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Tesztelés</a:t>
              </a:r>
              <a:endParaRPr lang="en-US" sz="1000"/>
            </a:p>
          </p:txBody>
        </p:sp>
        <p:sp>
          <p:nvSpPr>
            <p:cNvPr id="36" name="Text 34"/>
            <p:cNvSpPr/>
            <p:nvPr/>
          </p:nvSpPr>
          <p:spPr>
            <a:xfrm>
              <a:off x="6929562" y="3656142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Vitest · Cypress · Jest</a:t>
              </a:r>
              <a:endParaRPr lang="en-US" sz="1050"/>
            </a:p>
          </p:txBody>
        </p:sp>
        <p:sp>
          <p:nvSpPr>
            <p:cNvPr id="37" name="Shape 35"/>
            <p:cNvSpPr/>
            <p:nvPr/>
          </p:nvSpPr>
          <p:spPr>
            <a:xfrm>
              <a:off x="5695122" y="4085910"/>
              <a:ext cx="3840480" cy="411480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5786562" y="4131630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Csapatmunka</a:t>
              </a:r>
              <a:endParaRPr lang="en-US" sz="1000"/>
            </a:p>
          </p:txBody>
        </p:sp>
        <p:sp>
          <p:nvSpPr>
            <p:cNvPr id="39" name="Text 37"/>
            <p:cNvSpPr/>
            <p:nvPr/>
          </p:nvSpPr>
          <p:spPr>
            <a:xfrm>
              <a:off x="6929562" y="4131630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Trello (Kanban) · Discord · MS Teams</a:t>
              </a:r>
              <a:endParaRPr lang="en-US" sz="1050"/>
            </a:p>
          </p:txBody>
        </p:sp>
        <p:sp>
          <p:nvSpPr>
            <p:cNvPr id="40" name="Shape 38"/>
            <p:cNvSpPr/>
            <p:nvPr/>
          </p:nvSpPr>
          <p:spPr>
            <a:xfrm>
              <a:off x="5695122" y="4561398"/>
              <a:ext cx="3840480" cy="411480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786562" y="4607118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Biztonság</a:t>
              </a:r>
              <a:endParaRPr lang="en-US" sz="1000"/>
            </a:p>
          </p:txBody>
        </p:sp>
        <p:sp>
          <p:nvSpPr>
            <p:cNvPr id="42" name="Text 40"/>
            <p:cNvSpPr/>
            <p:nvPr/>
          </p:nvSpPr>
          <p:spPr>
            <a:xfrm>
              <a:off x="6929562" y="4607118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JWT token · bcrypt jelszótitkosítás</a:t>
              </a:r>
              <a:endParaRPr lang="en-US" sz="1050"/>
            </a:p>
          </p:txBody>
        </p:sp>
        <p:sp>
          <p:nvSpPr>
            <p:cNvPr id="43" name="Shape 41"/>
            <p:cNvSpPr/>
            <p:nvPr/>
          </p:nvSpPr>
          <p:spPr>
            <a:xfrm>
              <a:off x="5695122" y="5036886"/>
              <a:ext cx="3840480" cy="411480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5786562" y="5082606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Dokumentáció</a:t>
              </a:r>
              <a:endParaRPr lang="en-US" sz="1000"/>
            </a:p>
          </p:txBody>
        </p:sp>
        <p:sp>
          <p:nvSpPr>
            <p:cNvPr id="45" name="Text 43"/>
            <p:cNvSpPr/>
            <p:nvPr/>
          </p:nvSpPr>
          <p:spPr>
            <a:xfrm>
              <a:off x="6929562" y="5082606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Specifikáció · API docs · README</a:t>
              </a:r>
              <a:endParaRPr lang="en-US" sz="1050"/>
            </a:p>
          </p:txBody>
        </p:sp>
        <p:sp>
          <p:nvSpPr>
            <p:cNvPr id="46" name="Text 44"/>
            <p:cNvSpPr/>
            <p:nvPr/>
          </p:nvSpPr>
          <p:spPr>
            <a:xfrm>
              <a:off x="9647804" y="5353480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085" y="533935"/>
            <a:ext cx="9144000" cy="91440"/>
          </a:xfrm>
          <a:prstGeom prst="rect">
            <a:avLst/>
          </a:prstGeom>
          <a:solidFill>
            <a:srgbClr val="F0C050"/>
          </a:solidFill>
          <a:ln w="12700">
            <a:solidFill>
              <a:srgbClr val="F0C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085" y="5590567"/>
            <a:ext cx="9144000" cy="91440"/>
          </a:xfrm>
          <a:prstGeom prst="rect">
            <a:avLst/>
          </a:prstGeom>
          <a:solidFill>
            <a:srgbClr val="F0C050"/>
          </a:solidFill>
          <a:ln w="12700">
            <a:solidFill>
              <a:srgbClr val="F0C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31794" y="2510723"/>
            <a:ext cx="813816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000" b="1" err="1">
                <a:solidFill>
                  <a:srgbClr val="FFFFFF"/>
                </a:solidFill>
              </a:rPr>
              <a:t>Tervezés</a:t>
            </a:r>
            <a:r>
              <a:rPr lang="en-US" sz="4000" b="1">
                <a:solidFill>
                  <a:srgbClr val="FFFFFF"/>
                </a:solidFill>
              </a:rPr>
              <a:t> – </a:t>
            </a:r>
            <a:r>
              <a:rPr lang="en-US" sz="4000" b="1" err="1">
                <a:solidFill>
                  <a:srgbClr val="FFFFFF"/>
                </a:solidFill>
              </a:rPr>
              <a:t>Adatbázis</a:t>
            </a:r>
            <a:r>
              <a:rPr lang="en-US" sz="4000" b="1">
                <a:solidFill>
                  <a:srgbClr val="FFFFFF"/>
                </a:solidFill>
              </a:rPr>
              <a:t> </a:t>
            </a:r>
            <a:r>
              <a:rPr lang="en-US" sz="4000" b="1" err="1">
                <a:solidFill>
                  <a:srgbClr val="FFFFFF"/>
                </a:solidFill>
              </a:rPr>
              <a:t>terv</a:t>
            </a:r>
            <a:r>
              <a:rPr lang="en-US" sz="4000" b="1">
                <a:solidFill>
                  <a:srgbClr val="FFFFFF"/>
                </a:solidFill>
              </a:rPr>
              <a:t> </a:t>
            </a:r>
            <a:endParaRPr lang="en-US" sz="4000">
              <a:solidFill>
                <a:srgbClr val="000000"/>
              </a:solidFill>
            </a:endParaRPr>
          </a:p>
          <a:p>
            <a:pPr algn="ctr"/>
            <a:endParaRPr lang="en-US" sz="4000" b="1">
              <a:solidFill>
                <a:srgbClr val="FFFFFF"/>
              </a:solidFill>
            </a:endParaRPr>
          </a:p>
          <a:p>
            <a:pPr algn="ctr"/>
            <a:r>
              <a:rPr lang="en-US" sz="4000" b="1">
                <a:solidFill>
                  <a:srgbClr val="FFFFFF"/>
                </a:solidFill>
              </a:rPr>
              <a:t>Az ER diagram </a:t>
            </a:r>
            <a:r>
              <a:rPr lang="en-US" sz="4000" b="1" err="1">
                <a:solidFill>
                  <a:srgbClr val="FFFFFF"/>
                </a:solidFill>
              </a:rPr>
              <a:t>és</a:t>
            </a:r>
            <a:r>
              <a:rPr lang="en-US" sz="4000" b="1">
                <a:solidFill>
                  <a:srgbClr val="FFFFFF"/>
                </a:solidFill>
              </a:rPr>
              <a:t> </a:t>
            </a:r>
            <a:r>
              <a:rPr lang="en-US" sz="4000" b="1" err="1">
                <a:solidFill>
                  <a:srgbClr val="FFFFFF"/>
                </a:solidFill>
              </a:rPr>
              <a:t>az</a:t>
            </a:r>
            <a:r>
              <a:rPr lang="en-US" sz="4000" b="1">
                <a:solidFill>
                  <a:srgbClr val="FFFFFF"/>
                </a:solidFill>
              </a:rPr>
              <a:t> </a:t>
            </a:r>
            <a:r>
              <a:rPr lang="en-US" sz="4000" b="1" err="1">
                <a:solidFill>
                  <a:srgbClr val="FFFFFF"/>
                </a:solidFill>
              </a:rPr>
              <a:t>adatbázis</a:t>
            </a:r>
            <a:r>
              <a:rPr lang="en-US" sz="4000" b="1">
                <a:solidFill>
                  <a:srgbClr val="FFFFFF"/>
                </a:solidFill>
              </a:rPr>
              <a:t> Schema </a:t>
            </a:r>
            <a:endParaRPr lang="en-US" sz="4000">
              <a:solidFill>
                <a:srgbClr val="000000"/>
              </a:solidFill>
            </a:endParaRPr>
          </a:p>
          <a:p>
            <a:pPr algn="ctr"/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9975845" y="5224807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DDBBCC"/>
                </a:solidFill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9D90C-BDC7-3A1F-A479-425B4FC8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diagram,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0D89C554-B53F-D0BC-7159-5D0ED3ECF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488" y="0"/>
            <a:ext cx="9731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3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2E23C-566B-2CE7-29EE-55FC46B6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12">
            <a:extLst>
              <a:ext uri="{FF2B5EF4-FFF2-40B4-BE49-F238E27FC236}">
                <a16:creationId xmlns:a16="http://schemas.microsoft.com/office/drawing/2014/main" id="{5927D013-91F2-4965-B38E-247BB7DEF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2BEBDCF3-5071-4ECE-BF3C-223C7A9A0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4524B84A-BEB9-44DD-A582-DD7F3857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F261CBD-A93E-4EEE-8B50-C17F36477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A810A108-E17C-4DCF-9C1A-DE4CBB4A0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9C897D38-EAD4-4CF8-B75A-34415F0E2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EC7A3C5-0978-4C9F-AD47-57CDE1D27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1752DF1E-E0DB-4264-893D-15BD90B1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45359FB8-E648-4A60-9B0C-674D76EC4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A43C9C90-3735-439A-9B05-471570462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D333B98-AFDD-45EF-9EB6-8CF1A7D4E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10E04A0E-9450-4B9D-B40E-50E3A44AD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FD5671B8-4962-4E10-8622-3D65D920A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7CD1025-0584-432B-91FB-56EC2A34E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0D7F0937-1B34-4BBF-91E2-ACD08205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2F51F0BC-B7F1-496D-A49E-B8F7BC408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390BBDD1-4D3C-4038-AB05-DC78187BD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20000"/>
                </a:srgb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0199B21B-BD24-415C-AFA4-C36E8B2F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969F0B1A-69AA-4251-8458-911C11B1E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A6452F5D-C474-4AC3-8831-4974C927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F7302DE9-1403-4952-A47F-9163E6EC7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FC50F3DD-CAA3-436C-A0C6-20C9C4756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2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pic>
        <p:nvPicPr>
          <p:cNvPr id="2" name="Kép 1" descr="A képen képernyőkép, diagram, szöveg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8EB724DF-981A-918A-9A72-4CC21A67A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055" y="0"/>
            <a:ext cx="6173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45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65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3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4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5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6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7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9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0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23" name="Rectangle 88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bg1">
                <a:lumMod val="65000"/>
              </a:schemeClr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Csoportba foglalás 60">
            <a:extLst>
              <a:ext uri="{FF2B5EF4-FFF2-40B4-BE49-F238E27FC236}">
                <a16:creationId xmlns:a16="http://schemas.microsoft.com/office/drawing/2014/main" id="{2CDD3855-7555-A57A-935F-FC2FAD3FB48F}"/>
              </a:ext>
            </a:extLst>
          </p:cNvPr>
          <p:cNvGrpSpPr/>
          <p:nvPr/>
        </p:nvGrpSpPr>
        <p:grpSpPr>
          <a:xfrm>
            <a:off x="1148339" y="643467"/>
            <a:ext cx="9895321" cy="5571054"/>
            <a:chOff x="0" y="0"/>
            <a:chExt cx="9144000" cy="514807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5056632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502920" y="502920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2550" b="1" kern="1200" err="1">
                  <a:latin typeface="+mn-lt"/>
                  <a:ea typeface="+mn-ea"/>
                  <a:cs typeface="+mn-cs"/>
                </a:rPr>
                <a:t>Funkciók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– Backend </a:t>
              </a:r>
              <a:r>
                <a:rPr lang="en-US" sz="2550" b="1" kern="1200" err="1">
                  <a:latin typeface="+mn-lt"/>
                  <a:ea typeface="+mn-ea"/>
                  <a:cs typeface="+mn-cs"/>
                </a:rPr>
                <a:t>és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Frontend (Web)</a:t>
              </a:r>
              <a:endParaRPr lang="en-US" sz="2550"/>
            </a:p>
          </p:txBody>
        </p:sp>
        <p:sp>
          <p:nvSpPr>
            <p:cNvPr id="5" name="Shape 3"/>
            <p:cNvSpPr/>
            <p:nvPr/>
          </p:nvSpPr>
          <p:spPr>
            <a:xfrm>
              <a:off x="502920" y="978408"/>
              <a:ext cx="813816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02920" y="1115568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500" b="1" kern="1200" dirty="0">
                  <a:latin typeface="+mn-lt"/>
                  <a:ea typeface="+mn-ea"/>
                  <a:cs typeface="+mn-cs"/>
                </a:rPr>
                <a:t>Backend – REST API </a:t>
              </a:r>
              <a:r>
                <a:rPr lang="en-US" sz="1500" b="1" kern="1200" dirty="0" err="1">
                  <a:latin typeface="+mn-lt"/>
                  <a:ea typeface="+mn-ea"/>
                  <a:cs typeface="+mn-cs"/>
                </a:rPr>
                <a:t>végpontok</a:t>
              </a:r>
              <a:endParaRPr lang="en-US" sz="1400"/>
            </a:p>
          </p:txBody>
        </p:sp>
        <p:sp>
          <p:nvSpPr>
            <p:cNvPr id="7" name="Shape 5"/>
            <p:cNvSpPr/>
            <p:nvPr/>
          </p:nvSpPr>
          <p:spPr>
            <a:xfrm>
              <a:off x="502920" y="1490472"/>
              <a:ext cx="3931920" cy="256032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2648" y="1517904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POST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/auth/register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Regisztráció</a:t>
              </a:r>
              <a:endParaRPr lang="en-US" sz="1000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502920" y="1773936"/>
              <a:ext cx="3931920" cy="256032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12648" y="1801368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POST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/auth/login         – JWT token (cookie)</a:t>
              </a:r>
              <a:endParaRPr lang="en-US" sz="1000" dirty="0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502920" y="2057400"/>
              <a:ext cx="3931920" cy="256032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12648" y="2084832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POST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/auth/logout 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Kijelentkezés</a:t>
              </a:r>
              <a:endParaRPr lang="en-US" sz="1000" dirty="0" err="1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02920" y="2340864"/>
              <a:ext cx="3931920" cy="256032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12648" y="2368296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GET 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/auth/me     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Bejelentkezett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 user</a:t>
              </a:r>
              <a:endParaRPr lang="en-US" sz="1000" dirty="0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" y="2624328"/>
              <a:ext cx="3931920" cy="256032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12648" y="2651760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GET 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/users/me    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Teljes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profil</a:t>
              </a:r>
              <a:endParaRPr lang="en-US" sz="1000" dirty="0" err="1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502920" y="2907792"/>
              <a:ext cx="3931920" cy="256032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12648" y="2935224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PUT 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/users/me    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Profil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szerkesztése</a:t>
              </a:r>
              <a:endParaRPr lang="en-US" sz="1000" dirty="0" err="1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02920" y="3191256"/>
              <a:ext cx="3931920" cy="256032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12648" y="3218688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CRUD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/measurements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Mérések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naplózása</a:t>
              </a:r>
              <a:endParaRPr lang="en-US" sz="950">
                <a:solidFill>
                  <a:schemeClr val="bg1"/>
                </a:solidFill>
                <a:latin typeface="Rockwell" panose="02060603020205020403"/>
                <a:cs typeface="Courier New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502920" y="3474720"/>
              <a:ext cx="3931920" cy="256032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12648" y="3502152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CRUD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/goals       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Célok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kezelése</a:t>
              </a:r>
              <a:endParaRPr lang="en-US" sz="1000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502920" y="3758184"/>
              <a:ext cx="3931920" cy="256032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12648" y="3785616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Courier New"/>
                  <a:cs typeface="Courier New"/>
                </a:rPr>
                <a:t>GET  /</a:t>
              </a:r>
              <a:r>
                <a:rPr lang="en-US" sz="10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dirty="0">
                  <a:solidFill>
                    <a:schemeClr val="bg1"/>
                  </a:solidFill>
                  <a:latin typeface="Courier New"/>
                  <a:cs typeface="Courier New"/>
                </a:rPr>
                <a:t>/statistics/daily  – </a:t>
              </a:r>
              <a:r>
                <a:rPr lang="en-US" sz="10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Napi</a:t>
              </a:r>
              <a:r>
                <a:rPr lang="en-US" sz="1000" dirty="0">
                  <a:solidFill>
                    <a:schemeClr val="bg1"/>
                  </a:solidFill>
                  <a:latin typeface="Courier New"/>
                  <a:cs typeface="Courier New"/>
                </a:rPr>
                <a:t> </a:t>
              </a:r>
              <a:r>
                <a:rPr lang="en-US" sz="10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összesítő</a:t>
              </a:r>
              <a:endParaRPr lang="hu-HU"/>
            </a:p>
          </p:txBody>
        </p:sp>
        <p:sp>
          <p:nvSpPr>
            <p:cNvPr id="25" name="Shape 23"/>
            <p:cNvSpPr/>
            <p:nvPr/>
          </p:nvSpPr>
          <p:spPr>
            <a:xfrm>
              <a:off x="502920" y="4041648"/>
              <a:ext cx="3931920" cy="256032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12648" y="4069080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CRUD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/admin/users        – Admin: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felhasználók</a:t>
              </a:r>
              <a:endParaRPr lang="en-US" sz="1000" dirty="0" err="1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502920" y="4325112"/>
              <a:ext cx="3931920" cy="256032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12648" y="4352544"/>
              <a:ext cx="374904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POST /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api</a:t>
              </a:r>
              <a:r>
                <a:rPr lang="en-US" sz="1000" kern="1200" dirty="0">
                  <a:solidFill>
                    <a:schemeClr val="bg1"/>
                  </a:solidFill>
                  <a:latin typeface="Courier New"/>
                  <a:cs typeface="Courier New"/>
                </a:rPr>
                <a:t>/errors             – </a:t>
              </a:r>
              <a:r>
                <a:rPr lang="en-US" sz="1000" kern="1200" dirty="0" err="1">
                  <a:solidFill>
                    <a:schemeClr val="bg1"/>
                  </a:solidFill>
                  <a:latin typeface="Courier New"/>
                  <a:cs typeface="Courier New"/>
                </a:rPr>
                <a:t>Hibajelentés</a:t>
              </a:r>
              <a:endParaRPr lang="en-US" sz="1000">
                <a:solidFill>
                  <a:schemeClr val="bg1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4709160" y="1115568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500" b="1" kern="1200" dirty="0">
                  <a:latin typeface="+mn-lt"/>
                  <a:ea typeface="+mn-ea"/>
                  <a:cs typeface="+mn-cs"/>
                </a:rPr>
                <a:t>Frontend – React </a:t>
              </a:r>
              <a:r>
                <a:rPr lang="en-US" sz="1500" b="1" kern="1200" dirty="0" err="1">
                  <a:latin typeface="+mn-lt"/>
                  <a:ea typeface="+mn-ea"/>
                  <a:cs typeface="+mn-cs"/>
                </a:rPr>
                <a:t>oldalak</a:t>
              </a:r>
              <a:endParaRPr lang="en-US" sz="1500" dirty="0" err="1"/>
            </a:p>
          </p:txBody>
        </p:sp>
        <p:sp>
          <p:nvSpPr>
            <p:cNvPr id="30" name="Shape 28"/>
            <p:cNvSpPr/>
            <p:nvPr/>
          </p:nvSpPr>
          <p:spPr>
            <a:xfrm>
              <a:off x="4709160" y="1490472"/>
              <a:ext cx="3931920" cy="283464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800600" y="1527048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Landing Page</a:t>
              </a:r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446520" y="1527048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Bemutató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&amp;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belépési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kapu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4709160" y="1801368"/>
              <a:ext cx="3931920" cy="283464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800600" y="1837944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Login / Register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6446520" y="1837944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Hitelesítés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709160" y="2112264"/>
              <a:ext cx="3931920" cy="283464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800600" y="2148840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Dashboard</a:t>
              </a:r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446520" y="2148840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Napi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összesítő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haladás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4709160" y="2423160"/>
              <a:ext cx="3931920" cy="283464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4800600" y="2459736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WaterPage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446520" y="2459736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Vízfogyasztás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naplózása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4709160" y="2734056"/>
              <a:ext cx="3931920" cy="283464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4800600" y="2770632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CaloriesPage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6446520" y="2770632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Kalóriabevitel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étellista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709160" y="3044952"/>
              <a:ext cx="3931920" cy="283464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4800600" y="3081528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SleepPage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6446520" y="3081528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Alvásnaplózás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4709160" y="3355848"/>
              <a:ext cx="3931920" cy="283464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4800600" y="3392424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WeightPage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6446520" y="3392424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Testsúly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grafikon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4709160" y="3666744"/>
              <a:ext cx="3931920" cy="283464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4800600" y="3703320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MoodPage</a:t>
              </a:r>
              <a:endParaRPr lang="en-US" sz="1000" dirty="0" err="1">
                <a:solidFill>
                  <a:schemeClr val="bg1"/>
                </a:solidFill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6446520" y="3703320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1–5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hangulat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értékelés</a:t>
              </a:r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4709160" y="3977640"/>
              <a:ext cx="3931920" cy="283464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4800600" y="4014216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ProfilePage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6446520" y="4014216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Profil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megtekintés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&amp;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szerkesztés</a:t>
              </a:r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4709160" y="4288536"/>
              <a:ext cx="3931920" cy="283464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4800600" y="4325112"/>
              <a:ext cx="155448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b="1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AdminPage</a:t>
              </a:r>
              <a:endParaRPr lang="en-US" sz="1050" dirty="0" err="1">
                <a:solidFill>
                  <a:schemeClr val="bg1"/>
                </a:solidFill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6446520" y="4325112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Felhasználók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05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kezelése</a:t>
              </a:r>
              <a:r>
                <a:rPr lang="en-US" sz="105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(admin)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8366760" y="4690872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6F495D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Csoportba foglalás 40">
            <a:extLst>
              <a:ext uri="{FF2B5EF4-FFF2-40B4-BE49-F238E27FC236}">
                <a16:creationId xmlns:a16="http://schemas.microsoft.com/office/drawing/2014/main" id="{E734ADEE-C1E0-6890-7ADE-98B49E370342}"/>
              </a:ext>
            </a:extLst>
          </p:cNvPr>
          <p:cNvGrpSpPr/>
          <p:nvPr/>
        </p:nvGrpSpPr>
        <p:grpSpPr>
          <a:xfrm>
            <a:off x="1148338" y="643466"/>
            <a:ext cx="9895323" cy="5571054"/>
            <a:chOff x="0" y="0"/>
            <a:chExt cx="9144000" cy="514807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5056632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502920" y="502920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2592" b="1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Funkciók – Asztali alkalmazás és követelmények</a:t>
              </a:r>
              <a:endParaRPr lang="en-US" sz="2400"/>
            </a:p>
          </p:txBody>
        </p:sp>
        <p:sp>
          <p:nvSpPr>
            <p:cNvPr id="5" name="Shape 3"/>
            <p:cNvSpPr/>
            <p:nvPr/>
          </p:nvSpPr>
          <p:spPr>
            <a:xfrm>
              <a:off x="502920" y="978408"/>
              <a:ext cx="813816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02920" y="1115568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512" b="1" kern="1200">
                  <a:solidFill>
                    <a:srgbClr val="D4956B"/>
                  </a:solidFill>
                  <a:latin typeface="+mn-lt"/>
                  <a:ea typeface="+mn-ea"/>
                  <a:cs typeface="+mn-cs"/>
                </a:rPr>
                <a:t>Asztali alkalmazás (.NET 8 / WPF)</a:t>
              </a:r>
              <a:endParaRPr lang="en-US" sz="1400"/>
            </a:p>
          </p:txBody>
        </p:sp>
        <p:sp>
          <p:nvSpPr>
            <p:cNvPr id="7" name="Shape 5"/>
            <p:cNvSpPr/>
            <p:nvPr/>
          </p:nvSpPr>
          <p:spPr>
            <a:xfrm>
              <a:off x="502920" y="1627632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85800" y="1508760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 err="1">
                  <a:latin typeface="+mn-lt"/>
                  <a:ea typeface="+mn-ea"/>
                  <a:cs typeface="+mn-cs"/>
                </a:rPr>
                <a:t>Bejelentkezés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/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Regisztráció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oldalak</a:t>
              </a:r>
              <a:endParaRPr lang="en-US" sz="1250"/>
            </a:p>
          </p:txBody>
        </p:sp>
        <p:sp>
          <p:nvSpPr>
            <p:cNvPr id="9" name="Shape 7"/>
            <p:cNvSpPr/>
            <p:nvPr/>
          </p:nvSpPr>
          <p:spPr>
            <a:xfrm>
              <a:off x="502920" y="2011680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85800" y="1892808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>
                  <a:latin typeface="+mn-lt"/>
                  <a:ea typeface="+mn-ea"/>
                  <a:cs typeface="+mn-cs"/>
                </a:rPr>
                <a:t>Dashboard –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napi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áttekintő</a:t>
              </a:r>
              <a:endParaRPr lang="en-US" sz="1250"/>
            </a:p>
          </p:txBody>
        </p:sp>
        <p:sp>
          <p:nvSpPr>
            <p:cNvPr id="11" name="Shape 9"/>
            <p:cNvSpPr/>
            <p:nvPr/>
          </p:nvSpPr>
          <p:spPr>
            <a:xfrm>
              <a:off x="502920" y="2395728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85800" y="2276856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 err="1">
                  <a:latin typeface="+mn-lt"/>
                  <a:ea typeface="+mn-ea"/>
                  <a:cs typeface="+mn-cs"/>
                </a:rPr>
                <a:t>WaterPage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,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CaloriesPage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,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SleepPage</a:t>
              </a:r>
              <a:endParaRPr lang="en-US" sz="125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2920" y="2779776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85800" y="2660904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 err="1">
                  <a:latin typeface="+mn-lt"/>
                  <a:ea typeface="+mn-ea"/>
                  <a:cs typeface="+mn-cs"/>
                </a:rPr>
                <a:t>WeightPage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,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MoodPage</a:t>
              </a:r>
              <a:endParaRPr lang="en-US" sz="1250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" y="3163824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85800" y="3044952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 err="1">
                  <a:latin typeface="+mn-lt"/>
                  <a:ea typeface="+mn-ea"/>
                  <a:cs typeface="+mn-cs"/>
                </a:rPr>
                <a:t>Profiloldal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profilképpel</a:t>
              </a:r>
              <a:endParaRPr lang="en-US" sz="1250"/>
            </a:p>
          </p:txBody>
        </p:sp>
        <p:sp>
          <p:nvSpPr>
            <p:cNvPr id="17" name="Shape 15"/>
            <p:cNvSpPr/>
            <p:nvPr/>
          </p:nvSpPr>
          <p:spPr>
            <a:xfrm>
              <a:off x="502920" y="3547872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85800" y="3429000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 err="1">
                  <a:latin typeface="+mn-lt"/>
                  <a:ea typeface="+mn-ea"/>
                  <a:cs typeface="+mn-cs"/>
                </a:rPr>
                <a:t>AdminPage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–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felhasználókezelés</a:t>
              </a:r>
              <a:endParaRPr lang="en-US" sz="1250"/>
            </a:p>
          </p:txBody>
        </p:sp>
        <p:sp>
          <p:nvSpPr>
            <p:cNvPr id="19" name="Shape 17"/>
            <p:cNvSpPr/>
            <p:nvPr/>
          </p:nvSpPr>
          <p:spPr>
            <a:xfrm>
              <a:off x="502920" y="3931920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85800" y="3813048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>
                  <a:latin typeface="+mn-lt"/>
                  <a:ea typeface="+mn-ea"/>
                  <a:cs typeface="+mn-cs"/>
                </a:rPr>
                <a:t>Toast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értesítési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rendszer</a:t>
              </a:r>
              <a:endParaRPr lang="en-US" sz="1250"/>
            </a:p>
          </p:txBody>
        </p:sp>
        <p:sp>
          <p:nvSpPr>
            <p:cNvPr id="21" name="Shape 19"/>
            <p:cNvSpPr/>
            <p:nvPr/>
          </p:nvSpPr>
          <p:spPr>
            <a:xfrm>
              <a:off x="502920" y="4315968"/>
              <a:ext cx="109728" cy="109728"/>
            </a:xfrm>
            <a:prstGeom prst="ellipse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85800" y="4197096"/>
              <a:ext cx="3749040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50" kern="1200">
                  <a:latin typeface="+mn-lt"/>
                  <a:ea typeface="+mn-ea"/>
                  <a:cs typeface="+mn-cs"/>
                </a:rPr>
                <a:t>API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integráció</a:t>
              </a:r>
              <a:r>
                <a:rPr lang="en-US" sz="1250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250" kern="1200" err="1">
                  <a:latin typeface="+mn-lt"/>
                  <a:ea typeface="+mn-ea"/>
                  <a:cs typeface="+mn-cs"/>
                </a:rPr>
                <a:t>HttpClient-tel</a:t>
              </a:r>
              <a:endParaRPr lang="en-US" sz="1250"/>
            </a:p>
          </p:txBody>
        </p:sp>
        <p:sp>
          <p:nvSpPr>
            <p:cNvPr id="23" name="Text 21"/>
            <p:cNvSpPr/>
            <p:nvPr/>
          </p:nvSpPr>
          <p:spPr>
            <a:xfrm>
              <a:off x="4709160" y="1115568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512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Funkcionális követelmények</a:t>
              </a:r>
              <a:endParaRPr lang="en-US" sz="1400"/>
            </a:p>
          </p:txBody>
        </p:sp>
        <p:sp>
          <p:nvSpPr>
            <p:cNvPr id="24" name="Shape 22"/>
            <p:cNvSpPr/>
            <p:nvPr/>
          </p:nvSpPr>
          <p:spPr>
            <a:xfrm>
              <a:off x="4709160" y="1508760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800600" y="1545336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Felhasználói regisztráció és bejelentkezés</a:t>
              </a:r>
              <a:endParaRPr lang="en-US" sz="1100"/>
            </a:p>
          </p:txBody>
        </p:sp>
        <p:sp>
          <p:nvSpPr>
            <p:cNvPr id="26" name="Shape 24"/>
            <p:cNvSpPr/>
            <p:nvPr/>
          </p:nvSpPr>
          <p:spPr>
            <a:xfrm>
              <a:off x="4709160" y="1883664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800600" y="1920240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Profil létrehozása és szerkesztése</a:t>
              </a:r>
              <a:endParaRPr lang="en-US" sz="110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09160" y="2258568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4800600" y="2295144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</a:t>
              </a:r>
              <a:r>
                <a:rPr lang="en-US" sz="1150" kern="1200" dirty="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Napi</a:t>
              </a:r>
              <a:r>
                <a:rPr lang="en-US" sz="11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50" kern="1200" dirty="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szokások</a:t>
              </a:r>
              <a:r>
                <a:rPr lang="en-US" sz="11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50" kern="1200" dirty="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naplózása</a:t>
              </a:r>
              <a:r>
                <a:rPr lang="en-US" sz="11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</a:t>
              </a:r>
              <a:r>
                <a:rPr lang="en-US" sz="1150" dirty="0">
                  <a:solidFill>
                    <a:srgbClr val="FFFFFF"/>
                  </a:solidFill>
                </a:rPr>
                <a:t>5 </a:t>
              </a:r>
              <a:r>
                <a:rPr lang="en-US" sz="1150" kern="1200" dirty="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típus</a:t>
              </a:r>
              <a:r>
                <a:rPr lang="en-US" sz="1150" kern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</a:t>
              </a:r>
              <a:endParaRPr lang="en-US" sz="115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709160" y="2633472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800600" y="2670048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Statisztikák és grafikonok</a:t>
              </a:r>
              <a:endParaRPr lang="en-US" sz="1100"/>
            </a:p>
          </p:txBody>
        </p:sp>
        <p:sp>
          <p:nvSpPr>
            <p:cNvPr id="32" name="Shape 30"/>
            <p:cNvSpPr/>
            <p:nvPr/>
          </p:nvSpPr>
          <p:spPr>
            <a:xfrm>
              <a:off x="4709160" y="3008376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4800600" y="3044952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Célok beállítása és követése</a:t>
              </a:r>
              <a:endParaRPr lang="en-US" sz="1100"/>
            </a:p>
          </p:txBody>
        </p:sp>
        <p:sp>
          <p:nvSpPr>
            <p:cNvPr id="34" name="Shape 32"/>
            <p:cNvSpPr/>
            <p:nvPr/>
          </p:nvSpPr>
          <p:spPr>
            <a:xfrm>
              <a:off x="4709160" y="3383280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800600" y="3419856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Motivációs üzenetek</a:t>
              </a:r>
              <a:endParaRPr lang="en-US" sz="1100"/>
            </a:p>
          </p:txBody>
        </p:sp>
        <p:sp>
          <p:nvSpPr>
            <p:cNvPr id="36" name="Shape 34"/>
            <p:cNvSpPr/>
            <p:nvPr/>
          </p:nvSpPr>
          <p:spPr>
            <a:xfrm>
              <a:off x="4709160" y="3758184"/>
              <a:ext cx="3931920" cy="329184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800600" y="3794760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Rangok / eredmények</a:t>
              </a:r>
              <a:endParaRPr lang="en-US" sz="1100"/>
            </a:p>
          </p:txBody>
        </p:sp>
        <p:sp>
          <p:nvSpPr>
            <p:cNvPr id="38" name="Shape 36"/>
            <p:cNvSpPr/>
            <p:nvPr/>
          </p:nvSpPr>
          <p:spPr>
            <a:xfrm>
              <a:off x="502920" y="4661408"/>
              <a:ext cx="8138160" cy="256032"/>
            </a:xfrm>
            <a:prstGeom prst="rect">
              <a:avLst/>
            </a:prstGeom>
            <a:solidFill>
              <a:srgbClr val="3D0A16"/>
            </a:solidFill>
            <a:ln w="12700">
              <a:solidFill>
                <a:srgbClr val="3D0A16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502920" y="4661408"/>
              <a:ext cx="8138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08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Felhasználóbarát UI  ·  Gyors válaszidő  ·  Platformfüggetlen  ·  Biztonságos adatkezelés (bcrypt)</a:t>
              </a:r>
              <a:endParaRPr lang="en-US" sz="1000"/>
            </a:p>
          </p:txBody>
        </p:sp>
        <p:sp>
          <p:nvSpPr>
            <p:cNvPr id="40" name="Text 38"/>
            <p:cNvSpPr/>
            <p:nvPr/>
          </p:nvSpPr>
          <p:spPr>
            <a:xfrm>
              <a:off x="8366760" y="4657742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7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03221" y="2424816"/>
            <a:ext cx="813816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5800" b="1" kern="0" spc="800">
                <a:solidFill>
                  <a:srgbClr val="FFFFFF"/>
                </a:solidFill>
                <a:latin typeface="Times New Roman"/>
                <a:cs typeface="Times New Roman"/>
              </a:rPr>
              <a:t>ÉLŐ DEMO </a:t>
            </a:r>
          </a:p>
        </p:txBody>
      </p:sp>
      <p:sp>
        <p:nvSpPr>
          <p:cNvPr id="4" name="Text 2"/>
          <p:cNvSpPr/>
          <p:nvPr/>
        </p:nvSpPr>
        <p:spPr>
          <a:xfrm>
            <a:off x="2023962" y="3434435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FFD8A8"/>
                </a:solidFill>
              </a:rPr>
              <a:t>A Metabalance bemutatása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Csoportba foglalás 43">
            <a:extLst>
              <a:ext uri="{FF2B5EF4-FFF2-40B4-BE49-F238E27FC236}">
                <a16:creationId xmlns:a16="http://schemas.microsoft.com/office/drawing/2014/main" id="{112D32AC-6976-F125-947D-E879073D40D3}"/>
              </a:ext>
            </a:extLst>
          </p:cNvPr>
          <p:cNvGrpSpPr/>
          <p:nvPr/>
        </p:nvGrpSpPr>
        <p:grpSpPr>
          <a:xfrm>
            <a:off x="1148338" y="643466"/>
            <a:ext cx="9895323" cy="5571054"/>
            <a:chOff x="0" y="0"/>
            <a:chExt cx="9144000" cy="514807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5056632"/>
              <a:ext cx="9144000" cy="91440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502920" y="502920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2550" b="1" kern="1200" err="1">
                  <a:latin typeface="+mn-lt"/>
                  <a:ea typeface="+mn-ea"/>
                  <a:cs typeface="+mn-cs"/>
                </a:rPr>
                <a:t>Összegzés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2550" b="1" kern="1200" err="1">
                  <a:latin typeface="+mn-lt"/>
                  <a:ea typeface="+mn-ea"/>
                  <a:cs typeface="+mn-cs"/>
                </a:rPr>
                <a:t>és</a:t>
              </a:r>
              <a:r>
                <a:rPr lang="en-US" sz="255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2550" b="1" kern="1200" err="1">
                  <a:latin typeface="+mn-lt"/>
                  <a:ea typeface="+mn-ea"/>
                  <a:cs typeface="+mn-cs"/>
                </a:rPr>
                <a:t>kitekintés</a:t>
              </a:r>
              <a:endParaRPr lang="en-US" sz="2550"/>
            </a:p>
          </p:txBody>
        </p:sp>
        <p:sp>
          <p:nvSpPr>
            <p:cNvPr id="5" name="Shape 3"/>
            <p:cNvSpPr/>
            <p:nvPr/>
          </p:nvSpPr>
          <p:spPr>
            <a:xfrm>
              <a:off x="502920" y="978408"/>
              <a:ext cx="813816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02920" y="1115568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500" b="1" kern="1200">
                  <a:latin typeface="+mn-lt"/>
                  <a:ea typeface="+mn-ea"/>
                  <a:cs typeface="+mn-cs"/>
                </a:rPr>
                <a:t>Mit </a:t>
              </a:r>
              <a:r>
                <a:rPr lang="en-US" sz="1500" b="1" kern="1200" err="1">
                  <a:latin typeface="+mn-lt"/>
                  <a:ea typeface="+mn-ea"/>
                  <a:cs typeface="+mn-cs"/>
                </a:rPr>
                <a:t>valósítottunk</a:t>
              </a:r>
              <a:r>
                <a:rPr lang="en-US" sz="1500" b="1" kern="1200">
                  <a:latin typeface="+mn-lt"/>
                  <a:ea typeface="+mn-ea"/>
                  <a:cs typeface="+mn-cs"/>
                </a:rPr>
                <a:t> meg</a:t>
              </a:r>
              <a:endParaRPr lang="en-US" sz="1500"/>
            </a:p>
          </p:txBody>
        </p:sp>
        <p:sp>
          <p:nvSpPr>
            <p:cNvPr id="7" name="Shape 5"/>
            <p:cNvSpPr/>
            <p:nvPr/>
          </p:nvSpPr>
          <p:spPr>
            <a:xfrm>
              <a:off x="502920" y="1508760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2648" y="1545336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Teljes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funkcionalitású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többplatformos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app</a:t>
              </a:r>
              <a:endParaRPr lang="en-US" sz="1150"/>
            </a:p>
          </p:txBody>
        </p:sp>
        <p:sp>
          <p:nvSpPr>
            <p:cNvPr id="9" name="Shape 7"/>
            <p:cNvSpPr/>
            <p:nvPr/>
          </p:nvSpPr>
          <p:spPr>
            <a:xfrm>
              <a:off x="502920" y="1892808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12648" y="1929384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Web +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Asztali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–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ugyanaz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a REST API</a:t>
              </a:r>
              <a:endParaRPr lang="en-US" sz="1150"/>
            </a:p>
          </p:txBody>
        </p:sp>
        <p:sp>
          <p:nvSpPr>
            <p:cNvPr id="11" name="Shape 9"/>
            <p:cNvSpPr/>
            <p:nvPr/>
          </p:nvSpPr>
          <p:spPr>
            <a:xfrm>
              <a:off x="502920" y="2276856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12648" y="2313432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6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szokáskövető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modul</a:t>
              </a:r>
              <a:endParaRPr lang="en-US" sz="1150" err="1"/>
            </a:p>
          </p:txBody>
        </p:sp>
        <p:sp>
          <p:nvSpPr>
            <p:cNvPr id="13" name="Shape 11"/>
            <p:cNvSpPr/>
            <p:nvPr/>
          </p:nvSpPr>
          <p:spPr>
            <a:xfrm>
              <a:off x="502920" y="2660904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12648" y="2697480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Admin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felhasználókezelő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panel</a:t>
              </a:r>
              <a:endParaRPr lang="en-US" sz="1150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" y="3044952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12648" y="3081528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JWT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hitelesítés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titkosított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jelszavak</a:t>
              </a:r>
              <a:endParaRPr lang="en-US" sz="1150" err="1"/>
            </a:p>
          </p:txBody>
        </p:sp>
        <p:sp>
          <p:nvSpPr>
            <p:cNvPr id="17" name="Shape 15"/>
            <p:cNvSpPr/>
            <p:nvPr/>
          </p:nvSpPr>
          <p:spPr>
            <a:xfrm>
              <a:off x="502920" y="3429000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12648" y="3465576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Grafikonok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és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statisztika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dashboard</a:t>
              </a:r>
              <a:endParaRPr lang="en-US" sz="1150"/>
            </a:p>
          </p:txBody>
        </p:sp>
        <p:sp>
          <p:nvSpPr>
            <p:cNvPr id="19" name="Shape 17"/>
            <p:cNvSpPr/>
            <p:nvPr/>
          </p:nvSpPr>
          <p:spPr>
            <a:xfrm>
              <a:off x="502920" y="3813048"/>
              <a:ext cx="3931920" cy="338328"/>
            </a:xfrm>
            <a:prstGeom prst="rect">
              <a:avLst/>
            </a:prstGeom>
            <a:solidFill>
              <a:srgbClr val="541525"/>
            </a:solidFill>
            <a:ln w="10160">
              <a:solidFill>
                <a:srgbClr val="F0C05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12648" y="3849624"/>
              <a:ext cx="374904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Átfogó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242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tesztkészlet</a:t>
              </a:r>
              <a:r>
                <a:rPr lang="en-US" sz="1242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(unit + E2E)</a:t>
              </a:r>
              <a:endParaRPr lang="en-US" sz="1150"/>
            </a:p>
          </p:txBody>
        </p:sp>
        <p:sp>
          <p:nvSpPr>
            <p:cNvPr id="21" name="Text 19"/>
            <p:cNvSpPr/>
            <p:nvPr/>
          </p:nvSpPr>
          <p:spPr>
            <a:xfrm>
              <a:off x="4709160" y="1115568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500" b="1" kern="1200" err="1">
                  <a:latin typeface="+mn-lt"/>
                  <a:ea typeface="+mn-ea"/>
                  <a:cs typeface="+mn-cs"/>
                </a:rPr>
                <a:t>Továbbfejlesztési</a:t>
              </a:r>
              <a:r>
                <a:rPr lang="en-US" sz="1500" b="1" kern="1200">
                  <a:latin typeface="+mn-lt"/>
                  <a:ea typeface="+mn-ea"/>
                  <a:cs typeface="+mn-cs"/>
                </a:rPr>
                <a:t> </a:t>
              </a:r>
              <a:r>
                <a:rPr lang="en-US" sz="1500" b="1" kern="1200" err="1">
                  <a:latin typeface="+mn-lt"/>
                  <a:ea typeface="+mn-ea"/>
                  <a:cs typeface="+mn-cs"/>
                </a:rPr>
                <a:t>lehetőségek</a:t>
              </a:r>
              <a:endParaRPr lang="en-US" sz="1500"/>
            </a:p>
          </p:txBody>
        </p:sp>
        <p:sp>
          <p:nvSpPr>
            <p:cNvPr id="22" name="Shape 20"/>
            <p:cNvSpPr/>
            <p:nvPr/>
          </p:nvSpPr>
          <p:spPr>
            <a:xfrm>
              <a:off x="4709160" y="1508760"/>
              <a:ext cx="3931920" cy="33832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800600" y="1545336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Mobil app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6400800" y="1545336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React Native / MAUI</a:t>
              </a:r>
              <a:endParaRPr lang="en-US" sz="1050"/>
            </a:p>
          </p:txBody>
        </p:sp>
        <p:sp>
          <p:nvSpPr>
            <p:cNvPr id="25" name="Shape 23"/>
            <p:cNvSpPr/>
            <p:nvPr/>
          </p:nvSpPr>
          <p:spPr>
            <a:xfrm>
              <a:off x="4709160" y="1892808"/>
              <a:ext cx="3931920" cy="338328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800600" y="1929384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 AI </a:t>
              </a: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edző</a:t>
              </a:r>
              <a:endParaRPr lang="en-US" sz="1100" err="1"/>
            </a:p>
          </p:txBody>
        </p:sp>
        <p:sp>
          <p:nvSpPr>
            <p:cNvPr id="27" name="Text 25"/>
            <p:cNvSpPr/>
            <p:nvPr/>
          </p:nvSpPr>
          <p:spPr>
            <a:xfrm>
              <a:off x="6400800" y="1929384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Okos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javaslatok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az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adatok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alapján</a:t>
              </a:r>
              <a:endParaRPr lang="en-US" sz="1050" err="1"/>
            </a:p>
          </p:txBody>
        </p:sp>
        <p:sp>
          <p:nvSpPr>
            <p:cNvPr id="28" name="Shape 26"/>
            <p:cNvSpPr/>
            <p:nvPr/>
          </p:nvSpPr>
          <p:spPr>
            <a:xfrm>
              <a:off x="4709160" y="2276856"/>
              <a:ext cx="3931920" cy="33832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4800600" y="2313432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 Push </a:t>
              </a: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értesítések</a:t>
              </a:r>
              <a:endParaRPr lang="en-US" sz="1100" err="1"/>
            </a:p>
          </p:txBody>
        </p:sp>
        <p:sp>
          <p:nvSpPr>
            <p:cNvPr id="30" name="Text 28"/>
            <p:cNvSpPr/>
            <p:nvPr/>
          </p:nvSpPr>
          <p:spPr>
            <a:xfrm>
              <a:off x="6400800" y="2313432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Napi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emlékeztetők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sorozat-riasztók</a:t>
              </a:r>
              <a:endParaRPr lang="en-US" sz="1050" err="1"/>
            </a:p>
          </p:txBody>
        </p:sp>
        <p:sp>
          <p:nvSpPr>
            <p:cNvPr id="31" name="Shape 29"/>
            <p:cNvSpPr/>
            <p:nvPr/>
          </p:nvSpPr>
          <p:spPr>
            <a:xfrm>
              <a:off x="4709160" y="2660904"/>
              <a:ext cx="3931920" cy="338328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800600" y="2697480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Gamifikáció</a:t>
              </a:r>
              <a:endParaRPr lang="en-US" sz="1100" err="1"/>
            </a:p>
          </p:txBody>
        </p:sp>
        <p:sp>
          <p:nvSpPr>
            <p:cNvPr id="33" name="Text 31"/>
            <p:cNvSpPr/>
            <p:nvPr/>
          </p:nvSpPr>
          <p:spPr>
            <a:xfrm>
              <a:off x="6400800" y="2697480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Jelvények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ranglisták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kihívások</a:t>
              </a:r>
              <a:endParaRPr lang="en-US" sz="1050" err="1"/>
            </a:p>
          </p:txBody>
        </p:sp>
        <p:sp>
          <p:nvSpPr>
            <p:cNvPr id="34" name="Shape 32"/>
            <p:cNvSpPr/>
            <p:nvPr/>
          </p:nvSpPr>
          <p:spPr>
            <a:xfrm>
              <a:off x="4709160" y="3044952"/>
              <a:ext cx="3931920" cy="33832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800600" y="3081528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Részletes</a:t>
              </a: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analitika</a:t>
              </a:r>
              <a:endParaRPr lang="en-US" sz="1100"/>
            </a:p>
          </p:txBody>
        </p:sp>
        <p:sp>
          <p:nvSpPr>
            <p:cNvPr id="36" name="Text 34"/>
            <p:cNvSpPr/>
            <p:nvPr/>
          </p:nvSpPr>
          <p:spPr>
            <a:xfrm>
              <a:off x="6400800" y="3081528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Heti/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havi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trendjelentések</a:t>
              </a:r>
              <a:endParaRPr lang="en-US" sz="1050" err="1"/>
            </a:p>
          </p:txBody>
        </p:sp>
        <p:sp>
          <p:nvSpPr>
            <p:cNvPr id="37" name="Shape 35"/>
            <p:cNvSpPr/>
            <p:nvPr/>
          </p:nvSpPr>
          <p:spPr>
            <a:xfrm>
              <a:off x="4709160" y="3429000"/>
              <a:ext cx="3931920" cy="338328"/>
            </a:xfrm>
            <a:prstGeom prst="rect">
              <a:avLst/>
            </a:prstGeom>
            <a:solidFill>
              <a:srgbClr val="541525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800600" y="3465576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Viselhető</a:t>
              </a: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eszközök</a:t>
              </a:r>
              <a:endParaRPr lang="en-US" sz="1100" err="1"/>
            </a:p>
          </p:txBody>
        </p:sp>
        <p:sp>
          <p:nvSpPr>
            <p:cNvPr id="39" name="Text 37"/>
            <p:cNvSpPr/>
            <p:nvPr/>
          </p:nvSpPr>
          <p:spPr>
            <a:xfrm>
              <a:off x="6400800" y="3465576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Fitbit / Apple Health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szinkron</a:t>
              </a:r>
              <a:endParaRPr lang="en-US" sz="1050" err="1"/>
            </a:p>
          </p:txBody>
        </p:sp>
        <p:sp>
          <p:nvSpPr>
            <p:cNvPr id="40" name="Shape 38"/>
            <p:cNvSpPr/>
            <p:nvPr/>
          </p:nvSpPr>
          <p:spPr>
            <a:xfrm>
              <a:off x="4709160" y="3813048"/>
              <a:ext cx="3931920" cy="338328"/>
            </a:xfrm>
            <a:prstGeom prst="rect">
              <a:avLst/>
            </a:prstGeom>
            <a:solidFill>
              <a:srgbClr val="5A1B2B"/>
            </a:solidFill>
            <a:ln w="6350">
              <a:solidFill>
                <a:srgbClr val="995566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4800600" y="3849624"/>
              <a:ext cx="1508760" cy="26517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88" b="1" kern="1200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88" b="1" kern="1200" err="1">
                  <a:solidFill>
                    <a:srgbClr val="F0C050"/>
                  </a:solidFill>
                  <a:latin typeface="+mn-lt"/>
                  <a:ea typeface="+mn-ea"/>
                  <a:cs typeface="+mn-cs"/>
                </a:rPr>
                <a:t>Lokalizáció</a:t>
              </a:r>
              <a:endParaRPr lang="en-US" sz="1100" err="1"/>
            </a:p>
          </p:txBody>
        </p:sp>
        <p:sp>
          <p:nvSpPr>
            <p:cNvPr id="42" name="Text 40"/>
            <p:cNvSpPr/>
            <p:nvPr/>
          </p:nvSpPr>
          <p:spPr>
            <a:xfrm>
              <a:off x="6400800" y="3849624"/>
              <a:ext cx="2194560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987552">
                <a:spcAft>
                  <a:spcPts val="600"/>
                </a:spcAft>
              </a:pP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Többnyelvű</a:t>
              </a:r>
              <a:r>
                <a:rPr lang="en-US" sz="1134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134" kern="1200" err="1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támogatás</a:t>
              </a:r>
              <a:endParaRPr lang="en-US" sz="1050" err="1"/>
            </a:p>
          </p:txBody>
        </p:sp>
        <p:sp>
          <p:nvSpPr>
            <p:cNvPr id="43" name="Text 41"/>
            <p:cNvSpPr/>
            <p:nvPr/>
          </p:nvSpPr>
          <p:spPr>
            <a:xfrm>
              <a:off x="8366760" y="4690872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987552">
                <a:spcAft>
                  <a:spcPts val="600"/>
                </a:spcAft>
              </a:pPr>
              <a:r>
                <a:rPr lang="en-US" sz="1080" b="1" kern="1200">
                  <a:solidFill>
                    <a:srgbClr val="DDBBCC"/>
                  </a:solidFill>
                  <a:latin typeface="+mn-lt"/>
                  <a:ea typeface="+mn-ea"/>
                  <a:cs typeface="+mn-cs"/>
                </a:rPr>
                <a:t>9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4000"/>
                <a:lumMod val="116000"/>
              </a:schemeClr>
            </a:gs>
            <a:gs pos="100000">
              <a:schemeClr val="bg2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BB5D57-6178-4F62-B472-0312F6D95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00B320-C486-4967-AFB8-58E3EBDA9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0624" y="0"/>
            <a:ext cx="12584114" cy="6853238"/>
            <a:chOff x="-417513" y="0"/>
            <a:chExt cx="12584114" cy="6853238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6E6BEB2-753A-4253-9BE2-9E569A8A5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96A6026-E2E2-4401-BB72-F8314907A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C852B828-3E4B-4404-AEE7-815B0B6EE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B2BAC571-023A-4027-9689-5A7375FE5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6BB424FB-2158-48AB-9A28-A11889AA5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BE5FA512-D3FE-4F91-AE23-51DAAAA74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83CF3A0A-06AA-4987-8182-4F86E662E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969C6F15-1F6D-46D5-8C47-3FBC31253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01E2B94D-4E93-4C11-A1FC-B3A6E8CC5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F47C1110-8C08-4C26-BD0D-3083BFAC1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3085CEBC-D1F5-4F82-93C8-8ED38B7CB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3ED8F25D-E867-46B6-A62D-3B2114768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6BB81545-0C01-4B56-BADD-6B7D5B72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id="{A1574FCC-646A-4771-AB54-A44212F19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A56CC2BC-E51D-4A79-AA80-770FAA784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C95E0495-B7F8-44C5-AD1F-5F3C8633E3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28C1E7AA-A198-498A-9426-7632D7AA3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96410611-0DF8-42D3-91B1-B87AE692E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EACF821F-24B2-49B5-8688-744B0EADF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24">
              <a:extLst>
                <a:ext uri="{FF2B5EF4-FFF2-40B4-BE49-F238E27FC236}">
                  <a16:creationId xmlns:a16="http://schemas.microsoft.com/office/drawing/2014/main" id="{418BD791-FEEE-4A18-A5EF-F3815F184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25">
              <a:extLst>
                <a:ext uri="{FF2B5EF4-FFF2-40B4-BE49-F238E27FC236}">
                  <a16:creationId xmlns:a16="http://schemas.microsoft.com/office/drawing/2014/main" id="{D5D16C8F-EA4F-447C-934A-06E7BFAE9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8C244A1F-7C11-45E7-AB98-65851A650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1348"/>
            <a:ext cx="12192000" cy="5600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F8704689-9A82-8E67-A498-F58B0C1E8374}"/>
              </a:ext>
            </a:extLst>
          </p:cNvPr>
          <p:cNvGrpSpPr/>
          <p:nvPr/>
        </p:nvGrpSpPr>
        <p:grpSpPr>
          <a:xfrm>
            <a:off x="1308521" y="938319"/>
            <a:ext cx="9580051" cy="4979970"/>
            <a:chOff x="2026920" y="1438302"/>
            <a:chExt cx="8138160" cy="4230437"/>
          </a:xfrm>
        </p:grpSpPr>
        <p:sp>
          <p:nvSpPr>
            <p:cNvPr id="3" name="Text 1"/>
            <p:cNvSpPr/>
            <p:nvPr/>
          </p:nvSpPr>
          <p:spPr>
            <a:xfrm>
              <a:off x="2026920" y="1438302"/>
              <a:ext cx="813816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5382" b="1" kern="0" spc="117" err="1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Köszönjük</a:t>
              </a:r>
              <a:r>
                <a:rPr lang="en-US" sz="5382" b="1" kern="0" spc="117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 a </a:t>
              </a:r>
              <a:r>
                <a:rPr lang="en-US" sz="5382" b="1" kern="0" spc="117" err="1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figyelmet</a:t>
              </a:r>
              <a:r>
                <a:rPr lang="en-US" sz="5382" b="1" kern="0" spc="117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 sz="4600"/>
            </a:p>
          </p:txBody>
        </p:sp>
        <p:sp>
          <p:nvSpPr>
            <p:cNvPr id="4" name="Text 2"/>
            <p:cNvSpPr/>
            <p:nvPr/>
          </p:nvSpPr>
          <p:spPr>
            <a:xfrm>
              <a:off x="2026920" y="2398422"/>
              <a:ext cx="8138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2574" i="1" kern="1200" err="1">
                  <a:solidFill>
                    <a:srgbClr val="774D00"/>
                  </a:solidFill>
                  <a:latin typeface="+mn-lt"/>
                  <a:ea typeface="+mn-ea"/>
                  <a:cs typeface="+mn-cs"/>
                </a:rPr>
                <a:t>Várjuk</a:t>
              </a:r>
              <a:r>
                <a:rPr lang="en-US" sz="2574" i="1" kern="1200">
                  <a:solidFill>
                    <a:srgbClr val="774D00"/>
                  </a:solidFill>
                  <a:latin typeface="+mn-lt"/>
                  <a:ea typeface="+mn-ea"/>
                  <a:cs typeface="+mn-cs"/>
                </a:rPr>
                <a:t> a </a:t>
              </a:r>
              <a:r>
                <a:rPr lang="en-US" sz="2574" i="1" kern="1200" err="1">
                  <a:solidFill>
                    <a:srgbClr val="774D00"/>
                  </a:solidFill>
                  <a:latin typeface="+mn-lt"/>
                  <a:ea typeface="+mn-ea"/>
                  <a:cs typeface="+mn-cs"/>
                </a:rPr>
                <a:t>kérdéseket</a:t>
              </a:r>
              <a:endParaRPr lang="en-US" sz="2200" err="1"/>
            </a:p>
          </p:txBody>
        </p:sp>
        <p:sp>
          <p:nvSpPr>
            <p:cNvPr id="5" name="Shape 3"/>
            <p:cNvSpPr/>
            <p:nvPr/>
          </p:nvSpPr>
          <p:spPr>
            <a:xfrm>
              <a:off x="3810000" y="2992782"/>
              <a:ext cx="4572000" cy="36576"/>
            </a:xfrm>
            <a:prstGeom prst="rect">
              <a:avLst/>
            </a:prstGeom>
            <a:solidFill>
              <a:srgbClr val="F0C050"/>
            </a:solidFill>
            <a:ln w="12700">
              <a:solidFill>
                <a:srgbClr val="F0C05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026920" y="3157374"/>
              <a:ext cx="8138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1521" b="1" kern="1200" err="1">
                  <a:solidFill>
                    <a:srgbClr val="774D00"/>
                  </a:solidFill>
                  <a:latin typeface="+mn-lt"/>
                  <a:ea typeface="+mn-ea"/>
                  <a:cs typeface="+mn-cs"/>
                </a:rPr>
                <a:t>Csapat</a:t>
              </a:r>
              <a:r>
                <a:rPr lang="en-US" sz="1521" b="1" kern="1200">
                  <a:solidFill>
                    <a:srgbClr val="774D00"/>
                  </a:solidFill>
                  <a:latin typeface="+mn-lt"/>
                  <a:ea typeface="+mn-ea"/>
                  <a:cs typeface="+mn-cs"/>
                </a:rPr>
                <a:t>:</a:t>
              </a:r>
              <a:endParaRPr lang="en-US" sz="1300"/>
            </a:p>
          </p:txBody>
        </p:sp>
        <p:sp>
          <p:nvSpPr>
            <p:cNvPr id="7" name="Text 5"/>
            <p:cNvSpPr/>
            <p:nvPr/>
          </p:nvSpPr>
          <p:spPr>
            <a:xfrm>
              <a:off x="2026920" y="3495702"/>
              <a:ext cx="8138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1872" kern="1200" err="1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Buttyán</a:t>
              </a:r>
              <a:r>
                <a:rPr lang="en-US" sz="1872" kern="1200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 Péter  –  Frontend</a:t>
              </a:r>
              <a:endParaRPr lang="en-US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2026920" y="3879750"/>
              <a:ext cx="8138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1872" kern="1200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Körtvélyesi Roland  –  Backend &amp; </a:t>
              </a:r>
              <a:r>
                <a:rPr lang="en-US" sz="1872" kern="1200" err="1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Adatbázis</a:t>
              </a:r>
              <a:endParaRPr lang="en-US" sz="1600" err="1"/>
            </a:p>
          </p:txBody>
        </p:sp>
        <p:sp>
          <p:nvSpPr>
            <p:cNvPr id="9" name="Text 7"/>
            <p:cNvSpPr/>
            <p:nvPr/>
          </p:nvSpPr>
          <p:spPr>
            <a:xfrm>
              <a:off x="2026920" y="4263798"/>
              <a:ext cx="8138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1872" kern="1200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Mészáros Nándor Farkas  –  </a:t>
              </a:r>
              <a:r>
                <a:rPr lang="en-US" sz="1872" kern="1200" err="1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Asztali</a:t>
              </a:r>
              <a:r>
                <a:rPr lang="en-US" sz="1872" kern="1200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872" kern="1200" err="1">
                  <a:solidFill>
                    <a:srgbClr val="555555"/>
                  </a:solidFill>
                  <a:latin typeface="+mn-lt"/>
                  <a:ea typeface="+mn-ea"/>
                  <a:cs typeface="+mn-cs"/>
                </a:rPr>
                <a:t>Alkalmazás</a:t>
              </a:r>
              <a:endParaRPr lang="en-US" sz="1600" err="1"/>
            </a:p>
          </p:txBody>
        </p:sp>
        <p:sp>
          <p:nvSpPr>
            <p:cNvPr id="10" name="Text 8"/>
            <p:cNvSpPr/>
            <p:nvPr/>
          </p:nvSpPr>
          <p:spPr>
            <a:xfrm>
              <a:off x="2026920" y="4913022"/>
              <a:ext cx="813816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1404" kern="1200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BMSZC Bolyai </a:t>
              </a:r>
              <a:r>
                <a:rPr lang="en-US" sz="1404" kern="1200" err="1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Szakközép</a:t>
              </a:r>
              <a:r>
                <a:rPr lang="en-US" sz="1404" kern="1200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404" kern="1200" err="1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és</a:t>
              </a:r>
              <a:r>
                <a:rPr lang="en-US" sz="1404" kern="1200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404" kern="1200" err="1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Technikum</a:t>
              </a:r>
              <a:r>
                <a:rPr lang="en-US" sz="1404" kern="1200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  |  </a:t>
              </a:r>
              <a:r>
                <a:rPr lang="en-US" sz="1404" kern="1200" err="1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Konzulens</a:t>
              </a:r>
              <a:r>
                <a:rPr lang="en-US" sz="1404" kern="1200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: </a:t>
              </a:r>
              <a:r>
                <a:rPr lang="en-US" sz="1404" kern="1200" err="1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Dorogházi</a:t>
              </a:r>
              <a:r>
                <a:rPr lang="en-US" sz="1404" kern="1200">
                  <a:solidFill>
                    <a:srgbClr val="635050"/>
                  </a:solidFill>
                  <a:latin typeface="+mn-lt"/>
                  <a:ea typeface="+mn-ea"/>
                  <a:cs typeface="+mn-cs"/>
                </a:rPr>
                <a:t> Donát</a:t>
              </a:r>
              <a:endParaRPr lang="en-US" sz="1200"/>
            </a:p>
          </p:txBody>
        </p:sp>
        <p:sp>
          <p:nvSpPr>
            <p:cNvPr id="11" name="Text 9"/>
            <p:cNvSpPr/>
            <p:nvPr/>
          </p:nvSpPr>
          <p:spPr>
            <a:xfrm>
              <a:off x="2026920" y="5233062"/>
              <a:ext cx="8138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069848">
                <a:spcAft>
                  <a:spcPts val="600"/>
                </a:spcAft>
              </a:pPr>
              <a:r>
                <a:rPr lang="en-US" sz="2340" b="1" kern="1200" err="1">
                  <a:solidFill>
                    <a:srgbClr val="7F4D00"/>
                  </a:solidFill>
                  <a:latin typeface="+mn-lt"/>
                  <a:ea typeface="+mn-ea"/>
                  <a:cs typeface="+mn-cs"/>
                </a:rPr>
                <a:t>Metabalance</a:t>
              </a:r>
              <a:endParaRPr lang="en-US" sz="2000" err="1"/>
            </a:p>
          </p:txBody>
        </p:sp>
        <p:sp>
          <p:nvSpPr>
            <p:cNvPr id="12" name="Text 10"/>
            <p:cNvSpPr/>
            <p:nvPr/>
          </p:nvSpPr>
          <p:spPr>
            <a:xfrm>
              <a:off x="8415492" y="5390127"/>
              <a:ext cx="1260342" cy="2786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069848">
                <a:spcAft>
                  <a:spcPts val="600"/>
                </a:spcAft>
              </a:pPr>
              <a:r>
                <a:rPr lang="en-US" sz="1170" b="1" kern="1200">
                  <a:solidFill>
                    <a:srgbClr val="6F495D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Metabalance – Vizsgaremek Prezentáció</dc:title>
  <dc:subject>PptxGenJS Presentation</dc:subject>
  <dc:creator>Metabalance csapat</dc:creator>
  <cp:revision>3</cp:revision>
  <dcterms:created xsi:type="dcterms:W3CDTF">2026-04-15T16:07:24Z</dcterms:created>
  <dcterms:modified xsi:type="dcterms:W3CDTF">2026-04-16T16:36:20Z</dcterms:modified>
</cp:coreProperties>
</file>